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6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83193" autoAdjust="0"/>
  </p:normalViewPr>
  <p:slideViewPr>
    <p:cSldViewPr snapToGrid="0" snapToObjects="1">
      <p:cViewPr varScale="1">
        <p:scale>
          <a:sx n="100" d="100"/>
          <a:sy n="100" d="100"/>
        </p:scale>
        <p:origin x="1236" y="78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presProps" Target="presProps.xml"  /><Relationship Id="rId14" Type="http://schemas.openxmlformats.org/officeDocument/2006/relationships/viewProps" Target="viewProps.xml"  /><Relationship Id="rId15" Type="http://schemas.openxmlformats.org/officeDocument/2006/relationships/theme" Target="theme/theme1.xml"  /><Relationship Id="rId16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sz="1200"/>
              <a:t>[발표 스크립트]</a:t>
            </a:r>
            <a:endParaRPr lang="ko-KR" sz="1200"/>
          </a:p>
          <a:p>
            <a:pPr lvl="0">
              <a:defRPr/>
            </a:pPr>
            <a:r>
              <a:rPr lang="ko-KR" sz="1200"/>
              <a:t>안녕하세요. 저희 프로젝트는 ‘집찾GO’입니다.</a:t>
            </a:r>
            <a:endParaRPr lang="ko-KR" sz="1200"/>
          </a:p>
          <a:p>
            <a:pPr lvl="0">
              <a:defRPr/>
            </a:pPr>
            <a:r>
              <a:rPr lang="ko-KR" altLang="en-US" sz="1200"/>
              <a:t>여러분은 앱을 통해 집을 구해 본 경험이 있으십니까</a:t>
            </a:r>
            <a:r>
              <a:rPr lang="en-US" altLang="ko-KR" sz="1200"/>
              <a:t>?</a:t>
            </a:r>
            <a:r>
              <a:rPr lang="ko-KR" altLang="en-US" sz="1200"/>
              <a:t> </a:t>
            </a:r>
            <a:r>
              <a:rPr lang="ko-KR" sz="1200"/>
              <a:t>집을 구할 때 사용자는 가격과 위치뿐 아니라 교통, 학군, 주변 편의시설까지 여러 정보를 따로 확인해야 합니다.</a:t>
            </a:r>
            <a:endParaRPr lang="ko-KR" sz="1200"/>
          </a:p>
          <a:p>
            <a:pPr lvl="0">
              <a:defRPr/>
            </a:pPr>
            <a:r>
              <a:rPr lang="ko-KR" sz="1200"/>
              <a:t>집찾GO는 이</a:t>
            </a:r>
            <a:r>
              <a:rPr lang="ko-KR" altLang="en-US" sz="1200"/>
              <a:t>러한 일련의</a:t>
            </a:r>
            <a:r>
              <a:rPr lang="ko-KR" sz="1200"/>
              <a:t> 과정을 하나의 서비스 흐름으로 연결하고, 향후에는 자연어로 질문하면 매물과 지역을 함께 분석해 주는 AI 중개사로</a:t>
            </a:r>
            <a:r>
              <a:rPr lang="ko-KR" altLang="en-US" sz="1200"/>
              <a:t>서의 역할을</a:t>
            </a:r>
            <a:r>
              <a:rPr lang="ko-KR" sz="1200"/>
              <a:t> 목표로 합니다.</a:t>
            </a:r>
            <a:endParaRPr lang="ko-KR" sz="1200"/>
          </a:p>
          <a:p>
            <a:pPr lvl="0">
              <a:defRPr/>
            </a:pPr>
            <a:r>
              <a:rPr lang="ko-KR" sz="1200"/>
              <a:t>오늘은 프로젝트의 기획 배경부터 구현 기능, 향후 확장 방향까지 </a:t>
            </a:r>
            <a:r>
              <a:rPr lang="ko-KR" altLang="en-US" sz="1200"/>
              <a:t>여러분께</a:t>
            </a:r>
            <a:r>
              <a:rPr lang="ko-KR" sz="1200"/>
              <a:t> 설명드리겠습니다.</a:t>
            </a:r>
            <a:endParaRPr lang="ko-KR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/>
              <a:t>[발표 스크립트]</a:t>
            </a:r>
            <a:endParaRPr lang="ko-KR"/>
          </a:p>
          <a:p>
            <a:pPr lvl="0">
              <a:defRPr/>
            </a:pPr>
            <a:r>
              <a:rPr lang="ko-KR"/>
              <a:t>프로젝트를 기획</a:t>
            </a:r>
            <a:r>
              <a:rPr lang="ko-KR" altLang="en-US"/>
              <a:t> 당시</a:t>
            </a:r>
            <a:r>
              <a:rPr lang="en-US" altLang="ko-KR"/>
              <a:t>,</a:t>
            </a:r>
            <a:r>
              <a:rPr lang="ko-KR" altLang="en-US"/>
              <a:t> 기존 부동산 플랫폼에서</a:t>
            </a:r>
            <a:r>
              <a:rPr lang="ko-KR"/>
              <a:t> 가장 먼저 </a:t>
            </a:r>
            <a:r>
              <a:rPr lang="ko-KR" altLang="en-US"/>
              <a:t>찾은</a:t>
            </a:r>
            <a:r>
              <a:rPr lang="ko-KR"/>
              <a:t> 문제는 ‘정보는 많지만 </a:t>
            </a:r>
            <a:r>
              <a:rPr lang="ko-KR" altLang="en-US"/>
              <a:t>사용자가 </a:t>
            </a:r>
            <a:r>
              <a:rPr lang="ko-KR"/>
              <a:t>판단하기 어렵다’는 점이었습니다.</a:t>
            </a:r>
            <a:endParaRPr lang="ko-KR"/>
          </a:p>
          <a:p>
            <a:pPr lvl="0">
              <a:defRPr/>
            </a:pPr>
            <a:r>
              <a:rPr lang="ko-KR"/>
              <a:t>기존 부동산 탐색에서는 가격, 위치, 교통, 학군, 생활 인프라와 시장 흐름을 사용자가 직접 찾아 조합해야 합니다.</a:t>
            </a:r>
            <a:endParaRPr lang="ko-KR"/>
          </a:p>
          <a:p>
            <a:pPr lvl="0">
              <a:defRPr/>
            </a:pPr>
            <a:r>
              <a:rPr lang="ko-KR" altLang="en-US"/>
              <a:t>또한 전문적인 부동산 투자자가 아니고서야</a:t>
            </a:r>
            <a:r>
              <a:rPr lang="en-US" altLang="ko-KR"/>
              <a:t>,</a:t>
            </a:r>
            <a:r>
              <a:rPr lang="ko-KR" altLang="en-US"/>
              <a:t> 고객들의 거래 경험이 적을 수밖에 없는 시장 특성 상 이러한 정보들이 자신에게 어떤 영향을 미치는지도 놓치기 쉽습니다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r>
              <a:rPr lang="ko-KR"/>
              <a:t>그래서 저희는</a:t>
            </a:r>
            <a:r>
              <a:rPr lang="ko-KR" altLang="en-US"/>
              <a:t> 사용자 개개인에게 경험 많은 조언자를 붙여 드리기로 했습니다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프로젝트 집찾고는 첫째로</a:t>
            </a:r>
            <a:r>
              <a:rPr lang="en-US" altLang="ko-KR"/>
              <a:t>,</a:t>
            </a:r>
            <a:r>
              <a:rPr lang="ko-KR"/>
              <a:t> 사용자의 </a:t>
            </a:r>
            <a:r>
              <a:rPr lang="ko-KR" altLang="en-US"/>
              <a:t>현재 </a:t>
            </a:r>
            <a:r>
              <a:rPr lang="ko-KR"/>
              <a:t>조건을 정리하고, 둘째, </a:t>
            </a:r>
            <a:r>
              <a:rPr lang="ko-KR" altLang="en-US"/>
              <a:t>목표 </a:t>
            </a:r>
            <a:r>
              <a:rPr lang="ko-KR"/>
              <a:t>지역 매물</a:t>
            </a:r>
            <a:r>
              <a:rPr lang="ko-KR" altLang="en-US"/>
              <a:t>과</a:t>
            </a:r>
            <a:r>
              <a:rPr lang="ko-KR"/>
              <a:t> 주변 환경</a:t>
            </a:r>
            <a:r>
              <a:rPr lang="ko-KR" altLang="en-US"/>
              <a:t>을 비교</a:t>
            </a:r>
            <a:r>
              <a:rPr lang="en-US" altLang="ko-KR"/>
              <a:t>/</a:t>
            </a:r>
            <a:r>
              <a:rPr lang="ko-KR" altLang="en-US"/>
              <a:t>탐색</a:t>
            </a:r>
            <a:r>
              <a:rPr lang="ko-KR"/>
              <a:t>하고, 셋째, 실거래가와 시장 지표를 통해 </a:t>
            </a:r>
            <a:r>
              <a:rPr lang="ko-KR" altLang="en-US"/>
              <a:t>거래의 합리성을</a:t>
            </a:r>
            <a:r>
              <a:rPr lang="ko-KR"/>
              <a:t> 보조하는 서비스를 만들고자 했습니다.</a:t>
            </a:r>
            <a:endParaRPr lang="ko-KR"/>
          </a:p>
          <a:p>
            <a:pPr lvl="0">
              <a:defRPr/>
            </a:pPr>
            <a:r>
              <a:rPr lang="ko-KR"/>
              <a:t>결과적으로 사용자</a:t>
            </a:r>
            <a:r>
              <a:rPr lang="ko-KR" altLang="en-US"/>
              <a:t> 개개인에게 필요한 전문성 부담을 줄이고</a:t>
            </a:r>
            <a:r>
              <a:rPr lang="ko-KR"/>
              <a:t>, 단순 매물 검색을 넘어</a:t>
            </a:r>
            <a:r>
              <a:rPr lang="ko-KR" altLang="en-US"/>
              <a:t> 전문적인</a:t>
            </a:r>
            <a:r>
              <a:rPr lang="ko-KR"/>
              <a:t> 의사결정을 지원하는 것이 프로젝트의 목적입니다.</a:t>
            </a:r>
            <a:endParaRPr lang="ko-KR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sz="1200"/>
              <a:t>[발표 스크립트]</a:t>
            </a:r>
            <a:endParaRPr lang="ko-KR" sz="1200"/>
          </a:p>
          <a:p>
            <a:pPr lvl="0">
              <a:defRPr/>
            </a:pPr>
            <a:r>
              <a:rPr lang="ko-KR" altLang="en-US" sz="1200"/>
              <a:t>저희 팀 </a:t>
            </a:r>
            <a:r>
              <a:rPr lang="ko-KR" sz="1200"/>
              <a:t>네 명</a:t>
            </a:r>
            <a:r>
              <a:rPr lang="ko-KR" altLang="en-US" sz="1200"/>
              <a:t>은</a:t>
            </a:r>
            <a:r>
              <a:rPr lang="ko-KR" sz="1200"/>
              <a:t> 기능</a:t>
            </a:r>
            <a:r>
              <a:rPr lang="ko-KR" altLang="en-US" sz="1200"/>
              <a:t>에 따라</a:t>
            </a:r>
            <a:r>
              <a:rPr lang="ko-KR" sz="1200"/>
              <a:t> 역할을 나누어 개발했습니다.</a:t>
            </a:r>
            <a:endParaRPr lang="ko-KR" sz="1200"/>
          </a:p>
          <a:p>
            <a:pPr lvl="0">
              <a:defRPr/>
            </a:pPr>
            <a:r>
              <a:rPr lang="ko-KR" sz="1200"/>
              <a:t>안종범</a:t>
            </a:r>
            <a:r>
              <a:rPr lang="ko-KR" altLang="en-US" sz="1200"/>
              <a:t> 님</a:t>
            </a:r>
            <a:r>
              <a:rPr lang="ko-KR" sz="1200"/>
              <a:t>은 지도 기반 매물 탐색과 데이터 가공, 클러스터링, POI와 학군 기능을 담당했습니다.</a:t>
            </a:r>
            <a:endParaRPr lang="ko-KR" sz="1200"/>
          </a:p>
          <a:p>
            <a:pPr lvl="0">
              <a:defRPr/>
            </a:pPr>
            <a:r>
              <a:rPr lang="ko-KR" sz="1200"/>
              <a:t>이승호</a:t>
            </a:r>
            <a:r>
              <a:rPr lang="ko-KR" altLang="en-US" sz="1200"/>
              <a:t> 님은</a:t>
            </a:r>
            <a:r>
              <a:rPr lang="ko-KR" sz="1200"/>
              <a:t> 메인 화면, 시장동향, 국토교통부 OpenAPI와 회원 기능을 구현했습니다.</a:t>
            </a:r>
            <a:endParaRPr lang="ko-KR" sz="1200"/>
          </a:p>
          <a:p>
            <a:pPr lvl="0">
              <a:defRPr/>
            </a:pPr>
            <a:r>
              <a:rPr lang="ko-KR" sz="1200"/>
              <a:t>맹준영</a:t>
            </a:r>
            <a:r>
              <a:rPr lang="ko-KR" altLang="en-US" sz="1200"/>
              <a:t> 님</a:t>
            </a:r>
            <a:r>
              <a:rPr lang="ko-KR" sz="1200"/>
              <a:t>은 매물 등록과 사진 미리보기, 이용가이드, FAQ와 고객센터를 담당했고,</a:t>
            </a:r>
            <a:endParaRPr lang="ko-KR" sz="1200"/>
          </a:p>
          <a:p>
            <a:pPr lvl="0">
              <a:defRPr/>
            </a:pPr>
            <a:r>
              <a:rPr lang="ko-KR" sz="1200"/>
              <a:t>황상옥</a:t>
            </a:r>
            <a:r>
              <a:rPr lang="ko-KR" altLang="en-US" sz="1200"/>
              <a:t> 님</a:t>
            </a:r>
            <a:r>
              <a:rPr lang="ko-KR" sz="1200"/>
              <a:t>은 서비스 소개와 팀 소개 등 프로젝트 콘텐츠와 화면 구성을 담당했습니다.</a:t>
            </a:r>
            <a:endParaRPr lang="ko-KR" sz="1200"/>
          </a:p>
          <a:p>
            <a:pPr lvl="0">
              <a:defRPr/>
            </a:pPr>
            <a:r>
              <a:rPr lang="ko-KR" sz="1200"/>
              <a:t>각 기능을 독립적으로 개발한 뒤 Git과 GitHub를 통해 통합하는 방식으로 진행했습니다.</a:t>
            </a:r>
            <a:endParaRPr lang="ko-KR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/>
              <a:t>[발표 스크립트]</a:t>
            </a:r>
            <a:endParaRPr lang="ko-KR"/>
          </a:p>
          <a:p>
            <a:pPr lvl="0">
              <a:defRPr/>
            </a:pPr>
            <a:r>
              <a:rPr lang="ko-KR"/>
              <a:t>현재 프론트엔드는 HTML5, CSS3, JavaScript를 기반으로 구현했습니다.</a:t>
            </a:r>
            <a:endParaRPr lang="ko-KR"/>
          </a:p>
          <a:p>
            <a:pPr lvl="0">
              <a:defRPr/>
            </a:pPr>
            <a:r>
              <a:rPr lang="ko-KR"/>
              <a:t>지도는 Naver Maps JavaScript API를 사용했고, </a:t>
            </a:r>
            <a:r>
              <a:rPr lang="ko-KR" altLang="en-US"/>
              <a:t>샘플로 </a:t>
            </a:r>
            <a:r>
              <a:rPr lang="ko-KR"/>
              <a:t>약 4,970건의 매물을 </a:t>
            </a:r>
            <a:r>
              <a:rPr lang="ko-KR" altLang="en-US"/>
              <a:t>사용했고 </a:t>
            </a:r>
            <a:r>
              <a:rPr lang="ko-KR"/>
              <a:t>효율적으로 표시하기 위해 Supercluster를 적용했습니다.</a:t>
            </a:r>
            <a:endParaRPr lang="ko-KR"/>
          </a:p>
          <a:p>
            <a:pPr lvl="0">
              <a:defRPr/>
            </a:pPr>
            <a:r>
              <a:rPr lang="ko-KR"/>
              <a:t>매물, POI, 학군 데이터는 </a:t>
            </a:r>
            <a:r>
              <a:rPr lang="ko-KR" altLang="en-US"/>
              <a:t>일시적으로 </a:t>
            </a:r>
            <a:r>
              <a:rPr lang="ko-KR"/>
              <a:t>JSON 형태로 관리하고 있으며</a:t>
            </a:r>
            <a:r>
              <a:rPr lang="ko-KR" altLang="en-US"/>
              <a:t> 향후 데이터베이스 서버를 구축하여 규모를 확장할 예정입니다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r>
              <a:rPr lang="ko-KR"/>
              <a:t>로그인 상태와 관심목록 같은 시연 기능은 Web Storage를 사용했습니다.</a:t>
            </a:r>
            <a:endParaRPr lang="ko-KR"/>
          </a:p>
          <a:p>
            <a:pPr lvl="0">
              <a:defRPr/>
            </a:pPr>
            <a:r>
              <a:rPr lang="ko-KR"/>
              <a:t>시장동향은 Node.js와 Express 서버에서 국토교통부 실거래가 OpenAPI를 호출하도록 구성했습니다.</a:t>
            </a:r>
            <a:endParaRPr lang="ko-KR"/>
          </a:p>
          <a:p>
            <a:pPr lvl="0">
              <a:defRPr/>
            </a:pPr>
            <a:r>
              <a:rPr lang="ko-KR"/>
              <a:t>현재는 데모 중심 구조지만 이후 Spring과 MySQL 기반 백엔드로 확장할 수 있도록 역할을 분리했습니다.</a:t>
            </a:r>
            <a:endParaRPr lang="ko-KR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sz="1200"/>
              <a:t>[발표 스크립트]</a:t>
            </a:r>
            <a:endParaRPr lang="ko-KR" sz="1200"/>
          </a:p>
          <a:p>
            <a:pPr lvl="0">
              <a:defRPr/>
            </a:pPr>
            <a:r>
              <a:rPr lang="ko-KR" sz="1200"/>
              <a:t>프로젝트 구조는 크게 사용자 화면, 지도</a:t>
            </a:r>
            <a:r>
              <a:rPr lang="ko-KR" altLang="en-US" sz="1200"/>
              <a:t> 탐색</a:t>
            </a:r>
            <a:r>
              <a:rPr lang="ko-KR" sz="1200"/>
              <a:t> 기능, 데이터 저장소, 시장동향 API 서버로 나누었습니다.</a:t>
            </a:r>
            <a:endParaRPr lang="ko-KR" sz="1200"/>
          </a:p>
          <a:p>
            <a:pPr lvl="0">
              <a:defRPr/>
            </a:pPr>
            <a:r>
              <a:rPr lang="ko-KR" sz="1200"/>
              <a:t>templates 아래에는 AI, 시장동향, 회원</a:t>
            </a:r>
            <a:r>
              <a:rPr lang="ko-KR" altLang="en-US" sz="1200"/>
              <a:t>정보</a:t>
            </a:r>
            <a:r>
              <a:rPr lang="ko-KR" sz="1200"/>
              <a:t>, 매물</a:t>
            </a:r>
            <a:r>
              <a:rPr lang="ko-KR" altLang="en-US" sz="1200"/>
              <a:t>정보</a:t>
            </a:r>
            <a:r>
              <a:rPr lang="ko-KR" sz="1200"/>
              <a:t>, 고객지원 화면을 기능별로 분리했고, static에는 CSS, JavaScript, 이미지와 JSON 데이터를 배치했습니다.</a:t>
            </a:r>
            <a:endParaRPr lang="ko-KR" sz="1200"/>
          </a:p>
          <a:p>
            <a:pPr lvl="0">
              <a:defRPr/>
            </a:pPr>
            <a:r>
              <a:rPr lang="ko-KR" sz="1200"/>
              <a:t>지도는 Naver Maps와 Supercluster를 사용하고, 매물과 POI, 학군 정보는 로컬 JSON을 참조합니다.</a:t>
            </a:r>
            <a:endParaRPr lang="ko-KR" sz="1200"/>
          </a:p>
          <a:p>
            <a:pPr lvl="0">
              <a:defRPr/>
            </a:pPr>
            <a:r>
              <a:rPr lang="ko-KR" sz="1200"/>
              <a:t>시장동향은 별도의 Node.js/Express 서버가 공공데이터 API를 호출합니다.</a:t>
            </a:r>
            <a:endParaRPr lang="ko-KR" sz="1200"/>
          </a:p>
          <a:p>
            <a:pPr lvl="0">
              <a:defRPr/>
            </a:pPr>
            <a:r>
              <a:rPr lang="ko-KR" sz="1200"/>
              <a:t>이렇게 기능 경계를 분리해 향후 프론트엔드는 유지하면서 실제 백엔드와 데이터베이스, AI 서비스를 단계적으로 교체할 수 있도록 설계했습니다.</a:t>
            </a:r>
            <a:endParaRPr lang="ko-KR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sz="1200"/>
              <a:t>[발표 스크립트]</a:t>
            </a:r>
            <a:endParaRPr lang="ko-KR" sz="1200"/>
          </a:p>
          <a:p>
            <a:pPr lvl="0">
              <a:defRPr/>
            </a:pPr>
            <a:r>
              <a:rPr lang="ko-KR" sz="1200"/>
              <a:t>사용자 동선은 메인 페이지에서 시작합니다.</a:t>
            </a:r>
            <a:endParaRPr lang="ko-KR" sz="1200"/>
          </a:p>
          <a:p>
            <a:pPr lvl="0">
              <a:defRPr/>
            </a:pPr>
            <a:r>
              <a:rPr lang="ko-KR" sz="1200"/>
              <a:t>사용자는 AI 집 찾기를 통해 자신의 조건을 정리하거나 바로 지도에서 매물을 탐색할 수 있습니다.</a:t>
            </a:r>
            <a:endParaRPr lang="ko-KR" sz="1200"/>
          </a:p>
          <a:p>
            <a:pPr lvl="0">
              <a:defRPr/>
            </a:pPr>
            <a:r>
              <a:rPr lang="ko-KR" altLang="en-US" sz="1200"/>
              <a:t>대화와</a:t>
            </a:r>
            <a:r>
              <a:rPr lang="ko-KR" sz="1200"/>
              <a:t> 필</a:t>
            </a:r>
            <a:r>
              <a:rPr lang="ko-KR" altLang="en-US" sz="1200"/>
              <a:t>터링을 통해</a:t>
            </a:r>
            <a:r>
              <a:rPr lang="ko-KR" sz="1200"/>
              <a:t> 매물</a:t>
            </a:r>
            <a:r>
              <a:rPr lang="ko-KR" altLang="en-US" sz="1200"/>
              <a:t> 후보군을</a:t>
            </a:r>
            <a:r>
              <a:rPr lang="ko-KR" sz="1200"/>
              <a:t> 좁히고, 주변 POI와 학군을 함께 확인한 뒤 관심목록으로 저장할 수</a:t>
            </a:r>
            <a:r>
              <a:rPr lang="ko-KR" altLang="en-US" sz="1200"/>
              <a:t>도</a:t>
            </a:r>
            <a:r>
              <a:rPr lang="ko-KR" sz="1200"/>
              <a:t> 있습니다.</a:t>
            </a:r>
            <a:endParaRPr lang="ko-KR" sz="1200"/>
          </a:p>
          <a:p>
            <a:pPr lvl="0">
              <a:defRPr/>
            </a:pPr>
            <a:r>
              <a:rPr lang="ko-KR" sz="1200"/>
              <a:t>시장동향에서는 지역별 매매·전세·거래량·금리 등의 지표를 비교할 수 있고,</a:t>
            </a:r>
            <a:r>
              <a:rPr lang="ko-KR" altLang="en-US" sz="1200"/>
              <a:t> </a:t>
            </a:r>
            <a:r>
              <a:rPr lang="ko-KR" sz="1200"/>
              <a:t>매물 등록</a:t>
            </a:r>
            <a:r>
              <a:rPr lang="ko-KR" altLang="en-US" sz="1200"/>
              <a:t>에서는 자신의 부동산 정보를 등록해 다른 사용자들에게 노출시킬 수 있습니다</a:t>
            </a:r>
            <a:r>
              <a:rPr lang="en-US" altLang="ko-KR" sz="1200"/>
              <a:t>.</a:t>
            </a:r>
            <a:endParaRPr lang="ko-KR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sz="1200"/>
              <a:t>[발표 스크립트]</a:t>
            </a:r>
            <a:endParaRPr lang="ko-KR" sz="1200"/>
          </a:p>
          <a:p>
            <a:pPr lvl="0">
              <a:defRPr/>
            </a:pPr>
            <a:r>
              <a:rPr lang="ko-KR" sz="1200"/>
              <a:t>이 화면들은 현재 구현된 주요 UI입니다.</a:t>
            </a:r>
            <a:endParaRPr lang="ko-KR" sz="1200"/>
          </a:p>
          <a:p>
            <a:pPr lvl="0">
              <a:defRPr/>
            </a:pPr>
            <a:r>
              <a:rPr lang="ko-KR" sz="1200"/>
              <a:t>메인 화면에서는 서비스의 핵심 기능으로 빠르게 진입할 수 있고, AI 영역에서는 사용자의 주거 조건을 단계적으로 입력하는 흐름을 구현했습니다.</a:t>
            </a:r>
            <a:endParaRPr lang="ko-KR" sz="1200"/>
          </a:p>
          <a:p>
            <a:pPr lvl="0">
              <a:defRPr/>
            </a:pPr>
            <a:r>
              <a:rPr lang="ko-KR" sz="1200"/>
              <a:t>지도 화면에서는 약 4,970건의 매물을 검색하고 주택 유형, 거래 유형, 가격, 면적 등의 조건으로 필터링할 수 있습니다.</a:t>
            </a:r>
            <a:endParaRPr lang="ko-KR" sz="1200"/>
          </a:p>
          <a:p>
            <a:pPr lvl="0">
              <a:defRPr/>
            </a:pPr>
            <a:r>
              <a:rPr lang="ko-KR" sz="1200"/>
              <a:t>확대 수준에 따라 클러스터와 개별 매물을 다르게 표시해 지도 성능과 가독성을 함께 고려했습니다.</a:t>
            </a:r>
            <a:endParaRPr lang="ko-KR" sz="1200"/>
          </a:p>
          <a:p>
            <a:pPr lvl="0">
              <a:defRPr/>
            </a:pPr>
            <a:r>
              <a:rPr lang="ko-KR" sz="1200"/>
              <a:t>또한 편의시설 POI, 학군 경계, 거리 측정 등을 추가해 단순히 매물 위치만 보는 것이 아니라 실제 생활 환경까지 비교할 수 있도록 했습니다.</a:t>
            </a:r>
            <a:endParaRPr lang="ko-KR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sz="1200"/>
              <a:t>[발표 스크립트]</a:t>
            </a:r>
            <a:endParaRPr lang="ko-KR" sz="1200"/>
          </a:p>
          <a:p>
            <a:pPr lvl="0">
              <a:defRPr/>
            </a:pPr>
            <a:r>
              <a:rPr lang="ko-KR" sz="1200"/>
              <a:t>시연은 GitHub Pages에 배포된 화면을 기준으로 진행하겠습니다.</a:t>
            </a:r>
            <a:endParaRPr lang="ko-KR" sz="1200"/>
          </a:p>
          <a:p>
            <a:pPr lvl="0">
              <a:defRPr/>
            </a:pPr>
            <a:r>
              <a:rPr lang="ko-KR" sz="1200"/>
              <a:t>먼저 메인 화면에서 각 메뉴의 이동을 보여드리고, AI 집 찾기와 지도 탐색, 시장동향, 관심목록 순서로 살펴보겠습니다.</a:t>
            </a:r>
            <a:endParaRPr lang="ko-KR" sz="1200"/>
          </a:p>
          <a:p>
            <a:pPr lvl="0">
              <a:defRPr/>
            </a:pPr>
            <a:r>
              <a:rPr lang="ko-KR" sz="1200"/>
              <a:t>지도에서는 검색과 필터, 클러스터, POI와 학군 표시 기능을 시연하고, 마지막으로 화면 크기를 변경해 반응형 레이아웃도 확인하겠습니다.</a:t>
            </a:r>
            <a:endParaRPr lang="ko-KR" sz="1200"/>
          </a:p>
          <a:p>
            <a:pPr lvl="0">
              <a:defRPr/>
            </a:pPr>
            <a:r>
              <a:rPr lang="ko-KR" sz="1200"/>
              <a:t>현재 일부 기능은 데모 데이터와 브라우저 저장소를 사용한다는 점도 함께 말씀드리겠습니다.</a:t>
            </a:r>
            <a:endParaRPr lang="ko-KR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sz="1200"/>
              <a:t>[발표 스크립트]</a:t>
            </a:r>
            <a:endParaRPr lang="ko-KR" sz="1200"/>
          </a:p>
          <a:p>
            <a:pPr lvl="0">
              <a:defRPr/>
            </a:pPr>
            <a:r>
              <a:rPr lang="ko-KR" sz="1200"/>
              <a:t>향후 개발에서 가장 중요한 목표는 ‘자연어 기반 AI 중개사’를 만드는 것입니다.</a:t>
            </a:r>
            <a:endParaRPr lang="ko-KR" sz="1200"/>
          </a:p>
          <a:p>
            <a:pPr lvl="0">
              <a:defRPr/>
            </a:pPr>
            <a:r>
              <a:rPr lang="ko-KR" sz="1200"/>
              <a:t>현재는 사용자가 메뉴와 필터를 직접 조작하지만, 최종적으로는 ‘강남역 </a:t>
            </a:r>
            <a:r>
              <a:rPr lang="ko-KR" altLang="en-US" sz="1200"/>
              <a:t>근처에</a:t>
            </a:r>
            <a:r>
              <a:rPr lang="ko-KR" sz="1200"/>
              <a:t> 5억 이하</a:t>
            </a:r>
            <a:r>
              <a:rPr lang="ko-KR" altLang="en-US" sz="1200"/>
              <a:t>로 몸이 안 좋은 사람을 위한 집을 찾아줘</a:t>
            </a:r>
            <a:r>
              <a:rPr lang="ko-KR" sz="1200"/>
              <a:t>’처럼 일상적인 문장</a:t>
            </a:r>
            <a:r>
              <a:rPr lang="ko-KR" altLang="en-US" sz="1200"/>
              <a:t>을</a:t>
            </a:r>
            <a:r>
              <a:rPr lang="ko-KR" sz="1200"/>
              <a:t> 검색할 수 있게 만들고자 합니다.</a:t>
            </a:r>
            <a:endParaRPr lang="ko-KR" sz="1200"/>
          </a:p>
          <a:p>
            <a:pPr lvl="0">
              <a:defRPr/>
            </a:pPr>
            <a:r>
              <a:rPr lang="ko-KR" sz="1200"/>
              <a:t>AI는 사용자</a:t>
            </a:r>
            <a:r>
              <a:rPr lang="ko-KR" altLang="en-US" sz="1200"/>
              <a:t>와 대화하며</a:t>
            </a:r>
            <a:r>
              <a:rPr lang="ko-KR" sz="1200"/>
              <a:t> 지역, 예산, 주택 유형, 교통 시간, 생활 인프라 같은 조건을 구조화하고, 실제 매물 DB와 지도·POI·시장 데이터를 조회한 뒤 적합한 후보를 추천하게 됩니다.</a:t>
            </a:r>
            <a:endParaRPr lang="ko-KR" sz="1200"/>
          </a:p>
          <a:p>
            <a:pPr lvl="0">
              <a:defRPr/>
            </a:pPr>
            <a:r>
              <a:rPr lang="ko-KR" sz="1200"/>
              <a:t>또 ‘왜 이 매물을 추천했어?’, ‘A지역과 B지역 중 어디가 나아?’, ‘이 지역 가격 흐름은 어때?’처럼 후속 질문을 이어가며 근거를 설명하는 질의응답 구조를 목표로 합니다.</a:t>
            </a:r>
            <a:endParaRPr lang="ko-KR" sz="1200"/>
          </a:p>
          <a:p>
            <a:pPr lvl="0">
              <a:defRPr/>
            </a:pPr>
            <a:r>
              <a:rPr lang="ko-KR" sz="1200"/>
              <a:t>이를 위해 먼저 Spring과 MySQL로 회원·매물·관심정보를 영구 저장하고, RPA와 수집 파이프라인으로 부동산·공공·시세 데이터를 자동 갱신할 계획입니다.</a:t>
            </a:r>
            <a:endParaRPr lang="ko-KR" sz="1200"/>
          </a:p>
          <a:p>
            <a:pPr lvl="0">
              <a:defRPr/>
            </a:pPr>
            <a:r>
              <a:rPr lang="ko-KR" sz="1200"/>
              <a:t>그 위에 자연어 조건 해석, 데이터 검색 도구 호출, 맞춤 추천, 가격 예측과 지역 분석 기능을 연결해 사용자가 실제 공인중개사와 대화하듯 집을 찾을 수 있는 서비스로 확장하는 것이 최종 방향입니다.</a:t>
            </a:r>
            <a:endParaRPr lang="ko-KR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sz="1200"/>
              <a:t>[발표 스크립트]</a:t>
            </a:r>
            <a:endParaRPr lang="ko-KR" sz="1200"/>
          </a:p>
          <a:p>
            <a:pPr lvl="0">
              <a:defRPr/>
            </a:pPr>
            <a:r>
              <a:rPr lang="ko-KR" sz="1200"/>
              <a:t>프로젝트</a:t>
            </a:r>
            <a:r>
              <a:rPr lang="ko-KR" altLang="en-US" sz="1200"/>
              <a:t> 집찾고의 존재 의의는</a:t>
            </a:r>
            <a:r>
              <a:rPr lang="ko-KR" sz="1200"/>
              <a:t> </a:t>
            </a:r>
            <a:r>
              <a:rPr lang="ko-KR" altLang="en-US" sz="1200"/>
              <a:t>시장과 사용자의 요구를 하나로</a:t>
            </a:r>
            <a:r>
              <a:rPr lang="ko-KR" sz="1200"/>
              <a:t> 연결</a:t>
            </a:r>
            <a:r>
              <a:rPr lang="ko-KR" altLang="en-US" sz="1200"/>
              <a:t>한</a:t>
            </a:r>
            <a:r>
              <a:rPr lang="ko-KR" sz="1200"/>
              <a:t>다는 점입니다.</a:t>
            </a:r>
            <a:endParaRPr lang="ko-KR" sz="1200"/>
          </a:p>
          <a:p>
            <a:pPr lvl="0">
              <a:defRPr/>
            </a:pPr>
            <a:r>
              <a:rPr lang="ko-KR" altLang="en-US" sz="1200"/>
              <a:t>문제는</a:t>
            </a:r>
            <a:r>
              <a:rPr lang="ko-KR" sz="1200"/>
              <a:t> 아직 생성형 AI와 실제 회원·매물 데이터베이스가</a:t>
            </a:r>
            <a:r>
              <a:rPr lang="ko-KR" altLang="en-US" sz="1200"/>
              <a:t> 부족해</a:t>
            </a:r>
            <a:r>
              <a:rPr lang="ko-KR" sz="1200"/>
              <a:t> </a:t>
            </a:r>
            <a:r>
              <a:rPr lang="ko-KR" altLang="en-US" sz="1200"/>
              <a:t>완벽한 대화를 구현할 수 없고</a:t>
            </a:r>
            <a:r>
              <a:rPr lang="ko-KR" sz="1200"/>
              <a:t>, 일부 공통 UI와 성능, 접근성을 더 보완해야 한다는 점입니다.</a:t>
            </a:r>
            <a:endParaRPr lang="ko-KR" sz="1200"/>
          </a:p>
          <a:p>
            <a:pPr lvl="0">
              <a:defRPr/>
            </a:pPr>
            <a:r>
              <a:rPr lang="ko-KR" altLang="en-US" sz="1200"/>
              <a:t>앞으로 우리</a:t>
            </a:r>
            <a:r>
              <a:rPr lang="ko-KR" sz="1200"/>
              <a:t>는 Spring/MySQL 기반 백엔드를 구축</a:t>
            </a:r>
            <a:r>
              <a:rPr lang="ko-KR" altLang="en-US" sz="1200"/>
              <a:t>할 것이며</a:t>
            </a:r>
            <a:r>
              <a:rPr lang="en-US" altLang="ko-KR" sz="1200"/>
              <a:t>,</a:t>
            </a:r>
            <a:endParaRPr lang="en-US" altLang="ko-KR" sz="1200"/>
          </a:p>
          <a:p>
            <a:pPr lvl="0">
              <a:defRPr/>
            </a:pPr>
            <a:r>
              <a:rPr lang="ko-KR" sz="1200"/>
              <a:t>데이터 자동 수집과 실제 AI 추천·질의응답 기능을 </a:t>
            </a:r>
            <a:r>
              <a:rPr lang="ko-KR" altLang="en-US" sz="1200"/>
              <a:t>개선해 </a:t>
            </a:r>
            <a:r>
              <a:rPr lang="ko-KR" sz="1200"/>
              <a:t>사용자의 자연어 질문을 이해하고 데이터를 직접 찾아 비교·설명하는 AI 중개사</a:t>
            </a:r>
            <a:r>
              <a:rPr lang="ko-KR" altLang="en-US" sz="1200"/>
              <a:t>를</a:t>
            </a:r>
            <a:r>
              <a:rPr lang="ko-KR" sz="1200"/>
              <a:t> 발전시키고자 합니다.</a:t>
            </a:r>
            <a:endParaRPr lang="ko-KR" sz="1200"/>
          </a:p>
          <a:p>
            <a:pPr lvl="0">
              <a:defRPr/>
            </a:pPr>
            <a:r>
              <a:rPr lang="ko-KR" sz="1200"/>
              <a:t>이상으로 발표를 마치겠습니다. 질문 부탁드립니다.</a:t>
            </a:r>
            <a:endParaRPr 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Relationship Id="rId5" Type="http://schemas.openxmlformats.org/officeDocument/2006/relationships/image" Target="../media/image5.png"  /><Relationship Id="rId6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9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0.xml"  /><Relationship Id="rId3" Type="http://schemas.openxmlformats.org/officeDocument/2006/relationships/image" Target="../media/image2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pic>
        <p:nvPicPr>
          <p:cNvPr id="3" name="Picture 2" descr="_crop_34851197146887048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0"/>
            <a:ext cx="55622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629400" y="0"/>
            <a:ext cx="55622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pic>
        <p:nvPicPr>
          <p:cNvPr id="5" name="Picture 4" descr="logo(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02920"/>
            <a:ext cx="2240280" cy="11201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828800"/>
            <a:ext cx="4389120" cy="3200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100" b="1">
                <a:solidFill>
                  <a:srgbClr val="1E88F7"/>
                </a:solidFill>
                <a:latin typeface="Noto Sans KR"/>
              </a:rPr>
              <a:t>AI × MAP × MARKET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40280"/>
            <a:ext cx="5212080" cy="114300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3000" b="1" dirty="0" err="1">
                <a:solidFill>
                  <a:srgbClr val="0F203A"/>
                </a:solidFill>
                <a:latin typeface="Noto Sans KR"/>
              </a:rPr>
              <a:t>집을</a:t>
            </a:r>
            <a:r>
              <a:rPr sz="30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3000" b="1" dirty="0" err="1">
                <a:solidFill>
                  <a:srgbClr val="0F203A"/>
                </a:solidFill>
                <a:latin typeface="Noto Sans KR"/>
              </a:rPr>
              <a:t>찾는</a:t>
            </a:r>
            <a:r>
              <a:rPr sz="30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3000" b="1" dirty="0" err="1">
                <a:solidFill>
                  <a:srgbClr val="0F203A"/>
                </a:solidFill>
                <a:latin typeface="Noto Sans KR"/>
              </a:rPr>
              <a:t>과정을</a:t>
            </a:r>
            <a:r>
              <a:rPr sz="3000" b="1" dirty="0">
                <a:solidFill>
                  <a:srgbClr val="0F203A"/>
                </a:solidFill>
                <a:latin typeface="Noto Sans KR"/>
              </a:rPr>
              <a:t>
</a:t>
            </a:r>
            <a:r>
              <a:rPr sz="3000" b="1" dirty="0" err="1">
                <a:solidFill>
                  <a:srgbClr val="0F203A"/>
                </a:solidFill>
                <a:latin typeface="Noto Sans KR"/>
              </a:rPr>
              <a:t>하나의</a:t>
            </a:r>
            <a:r>
              <a:rPr sz="30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3000" b="1" dirty="0" err="1">
                <a:solidFill>
                  <a:srgbClr val="0F203A"/>
                </a:solidFill>
                <a:latin typeface="Noto Sans KR"/>
              </a:rPr>
              <a:t>흐름으로</a:t>
            </a:r>
            <a:r>
              <a:rPr sz="3000" b="1" dirty="0">
                <a:solidFill>
                  <a:srgbClr val="0F203A"/>
                </a:solidFill>
                <a:latin typeface="Noto Sans K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56683"/>
            <a:ext cx="5303520" cy="50475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400" b="0" dirty="0">
                <a:solidFill>
                  <a:srgbClr val="708297"/>
                </a:solidFill>
                <a:latin typeface="Noto Sans KR"/>
              </a:rPr>
              <a:t>AI </a:t>
            </a:r>
            <a:r>
              <a:rPr sz="1400" b="0" dirty="0" err="1">
                <a:solidFill>
                  <a:srgbClr val="708297"/>
                </a:solidFill>
                <a:latin typeface="Noto Sans KR"/>
              </a:rPr>
              <a:t>대화형</a:t>
            </a:r>
            <a:r>
              <a:rPr sz="14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400" b="0" dirty="0" err="1">
                <a:solidFill>
                  <a:srgbClr val="708297"/>
                </a:solidFill>
                <a:latin typeface="Noto Sans KR"/>
              </a:rPr>
              <a:t>추천과</a:t>
            </a:r>
            <a:r>
              <a:rPr sz="14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400" b="0" dirty="0" err="1">
                <a:solidFill>
                  <a:srgbClr val="708297"/>
                </a:solidFill>
                <a:latin typeface="Noto Sans KR"/>
              </a:rPr>
              <a:t>지도</a:t>
            </a:r>
            <a:r>
              <a:rPr sz="14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400" b="0" dirty="0" err="1">
                <a:solidFill>
                  <a:srgbClr val="708297"/>
                </a:solidFill>
                <a:latin typeface="Noto Sans KR"/>
              </a:rPr>
              <a:t>기반</a:t>
            </a:r>
            <a:r>
              <a:rPr sz="14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400" b="0" dirty="0" err="1">
                <a:solidFill>
                  <a:srgbClr val="708297"/>
                </a:solidFill>
                <a:latin typeface="Noto Sans KR"/>
              </a:rPr>
              <a:t>탐색</a:t>
            </a:r>
            <a:r>
              <a:rPr sz="1400" b="0" dirty="0">
                <a:solidFill>
                  <a:srgbClr val="708297"/>
                </a:solidFill>
                <a:latin typeface="Noto Sans KR"/>
              </a:rPr>
              <a:t>, </a:t>
            </a:r>
            <a:r>
              <a:rPr sz="1400" b="0" dirty="0" err="1">
                <a:solidFill>
                  <a:srgbClr val="708297"/>
                </a:solidFill>
                <a:latin typeface="Noto Sans KR"/>
              </a:rPr>
              <a:t>시장</a:t>
            </a:r>
            <a:r>
              <a:rPr sz="14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400" b="0" dirty="0" err="1">
                <a:solidFill>
                  <a:srgbClr val="708297"/>
                </a:solidFill>
                <a:latin typeface="Noto Sans KR"/>
              </a:rPr>
              <a:t>데이터</a:t>
            </a:r>
            <a:r>
              <a:rPr sz="14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400" b="0" dirty="0" err="1">
                <a:solidFill>
                  <a:srgbClr val="708297"/>
                </a:solidFill>
                <a:latin typeface="Noto Sans KR"/>
              </a:rPr>
              <a:t>분석을</a:t>
            </a:r>
            <a:r>
              <a:rPr sz="14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400" b="0" dirty="0" err="1">
                <a:solidFill>
                  <a:srgbClr val="708297"/>
                </a:solidFill>
                <a:latin typeface="Noto Sans KR"/>
              </a:rPr>
              <a:t>결합한</a:t>
            </a:r>
            <a:r>
              <a:rPr sz="1400" b="0" dirty="0">
                <a:solidFill>
                  <a:srgbClr val="708297"/>
                </a:solidFill>
                <a:latin typeface="Noto Sans KR"/>
              </a:rPr>
              <a:t>
</a:t>
            </a:r>
            <a:r>
              <a:rPr sz="1400" b="0" dirty="0" err="1">
                <a:solidFill>
                  <a:srgbClr val="708297"/>
                </a:solidFill>
                <a:latin typeface="Noto Sans KR"/>
              </a:rPr>
              <a:t>부동산</a:t>
            </a:r>
            <a:r>
              <a:rPr sz="1400" b="0" dirty="0">
                <a:solidFill>
                  <a:srgbClr val="708297"/>
                </a:solidFill>
                <a:latin typeface="Noto Sans KR"/>
              </a:rPr>
              <a:t> 웹 </a:t>
            </a:r>
            <a:r>
              <a:rPr sz="1400" b="0" dirty="0" err="1">
                <a:solidFill>
                  <a:srgbClr val="708297"/>
                </a:solidFill>
                <a:latin typeface="Noto Sans KR"/>
              </a:rPr>
              <a:t>서비스</a:t>
            </a:r>
            <a:r>
              <a:rPr sz="14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400" b="0" dirty="0" err="1">
                <a:solidFill>
                  <a:srgbClr val="708297"/>
                </a:solidFill>
                <a:latin typeface="Noto Sans KR"/>
              </a:rPr>
              <a:t>프로젝트</a:t>
            </a:r>
            <a:endParaRPr sz="1400" b="0" dirty="0">
              <a:solidFill>
                <a:srgbClr val="708297"/>
              </a:solidFill>
              <a:latin typeface="Noto Sans KR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4709160"/>
            <a:ext cx="1325880" cy="310896"/>
          </a:xfrm>
          <a:prstGeom prst="roundRect">
            <a:avLst/>
          </a:prstGeom>
          <a:solidFill>
            <a:srgbClr val="EBF6FF"/>
          </a:solidFill>
          <a:ln w="10160">
            <a:solidFill>
              <a:srgbClr val="EB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4709160"/>
            <a:ext cx="1325880" cy="310896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900" b="1">
                <a:solidFill>
                  <a:srgbClr val="1E88F7"/>
                </a:solidFill>
                <a:latin typeface="Noto Sans KR"/>
              </a:rPr>
              <a:t>TEAM PROJECT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4709160"/>
            <a:ext cx="1051560" cy="310896"/>
          </a:xfrm>
          <a:prstGeom prst="roundRect">
            <a:avLst/>
          </a:prstGeom>
          <a:solidFill>
            <a:srgbClr val="E9FCF8"/>
          </a:solidFill>
          <a:ln w="10160">
            <a:solidFill>
              <a:srgbClr val="E9F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48840" y="4709160"/>
            <a:ext cx="1051560" cy="310896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900" b="1">
                <a:solidFill>
                  <a:srgbClr val="1FD4C4"/>
                </a:solidFill>
                <a:latin typeface="Noto Sans KR"/>
              </a:rPr>
              <a:t>6 WEEKS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4709160"/>
            <a:ext cx="1325880" cy="310896"/>
          </a:xfrm>
          <a:prstGeom prst="roundRect">
            <a:avLst/>
          </a:prstGeom>
          <a:solidFill>
            <a:srgbClr val="F2F8FF"/>
          </a:solidFill>
          <a:ln w="10160">
            <a:solidFill>
              <a:srgbClr val="F2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7560" y="4709160"/>
            <a:ext cx="1325880" cy="310896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900" b="1">
                <a:solidFill>
                  <a:srgbClr val="162D58"/>
                </a:solidFill>
                <a:latin typeface="Noto Sans KR"/>
              </a:rPr>
              <a:t>WEB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035040"/>
            <a:ext cx="457200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000" b="0">
                <a:solidFill>
                  <a:srgbClr val="708297"/>
                </a:solidFill>
                <a:latin typeface="Noto Sans KR"/>
              </a:rPr>
              <a:t>Zip-chatGo ·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52466"/>
            <a:ext cx="3200400" cy="227755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000" b="1" dirty="0">
                <a:solidFill>
                  <a:srgbClr val="1E88F7"/>
                </a:solidFill>
                <a:latin typeface="Noto Sans KR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53035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2600" b="1" dirty="0" err="1">
                <a:solidFill>
                  <a:srgbClr val="0F203A"/>
                </a:solidFill>
                <a:latin typeface="Noto Sans KR"/>
              </a:rPr>
              <a:t>프로젝트</a:t>
            </a:r>
            <a:r>
              <a:rPr sz="26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2600" b="1" dirty="0" err="1">
                <a:solidFill>
                  <a:srgbClr val="0F203A"/>
                </a:solidFill>
                <a:latin typeface="Noto Sans KR"/>
              </a:rPr>
              <a:t>소개</a:t>
            </a:r>
            <a:endParaRPr sz="2600" b="1" dirty="0">
              <a:solidFill>
                <a:srgbClr val="0F203A"/>
              </a:solidFill>
              <a:latin typeface="Noto Sans K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251478"/>
            <a:ext cx="1060704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 dirty="0" err="1">
                <a:solidFill>
                  <a:srgbClr val="708297"/>
                </a:solidFill>
                <a:latin typeface="Noto Sans KR"/>
              </a:rPr>
              <a:t>복잡한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부동산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탐색을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‘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조건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정리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→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탐색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→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비교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→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의사결정’의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한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흐름으로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연결</a:t>
            </a:r>
            <a:endParaRPr sz="1200" b="0" dirty="0">
              <a:solidFill>
                <a:srgbClr val="708297"/>
              </a:solidFill>
              <a:latin typeface="Noto Sans K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47472"/>
            <a:ext cx="457200" cy="22860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900" b="1">
                <a:solidFill>
                  <a:srgbClr val="708297"/>
                </a:solidFill>
                <a:latin typeface="Noto Sans KR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18488"/>
            <a:ext cx="548640" cy="41148"/>
          </a:xfrm>
          <a:prstGeom prst="rect">
            <a:avLst/>
          </a:prstGeom>
          <a:solidFill>
            <a:srgbClr val="1FD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3657600" cy="39776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73152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000" b="1">
                <a:solidFill>
                  <a:srgbClr val="1E88F7"/>
                </a:solidFill>
                <a:latin typeface="Noto Sans KR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2926080" cy="7772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2300" b="1">
                <a:solidFill>
                  <a:srgbClr val="0F203A"/>
                </a:solidFill>
                <a:latin typeface="Noto Sans KR"/>
              </a:rPr>
              <a:t>정보는 많지만,
판단은 여전히 어렵다.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97082"/>
            <a:ext cx="3383280" cy="6278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 dirty="0" err="1">
                <a:solidFill>
                  <a:srgbClr val="708297"/>
                </a:solidFill>
                <a:latin typeface="Noto Sans KR"/>
              </a:rPr>
              <a:t>가격·위치뿐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아니라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교통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,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학군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,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생활편의시설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,
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실거래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흐름까지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사용자가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직접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찾아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조합해야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하</a:t>
            </a:r>
            <a:r>
              <a:rPr lang="ko-KR" altLang="en-US" sz="1200" b="0" dirty="0">
                <a:solidFill>
                  <a:srgbClr val="708297"/>
                </a:solidFill>
                <a:latin typeface="Noto Sans KR"/>
              </a:rPr>
              <a:t>는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
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탐색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부담을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줄이는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것이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출발점입니다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92040"/>
            <a:ext cx="960120" cy="310896"/>
          </a:xfrm>
          <a:prstGeom prst="roundRect">
            <a:avLst/>
          </a:prstGeom>
          <a:solidFill>
            <a:srgbClr val="EBF6FF"/>
          </a:solidFill>
          <a:ln w="10160">
            <a:solidFill>
              <a:srgbClr val="EB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918222"/>
            <a:ext cx="96012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200" b="1" dirty="0" err="1">
                <a:solidFill>
                  <a:srgbClr val="1E88F7"/>
                </a:solidFill>
                <a:latin typeface="Noto Sans KR"/>
              </a:rPr>
              <a:t>집찾GO</a:t>
            </a:r>
            <a:endParaRPr sz="1200" b="1" dirty="0">
              <a:solidFill>
                <a:srgbClr val="1E88F7"/>
              </a:solidFill>
              <a:latin typeface="Noto Sans K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93392" y="4918222"/>
            <a:ext cx="2029968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 dirty="0">
                <a:solidFill>
                  <a:srgbClr val="23283C"/>
                </a:solidFill>
                <a:latin typeface="Noto Sans KR"/>
              </a:rPr>
              <a:t>AI </a:t>
            </a:r>
            <a:r>
              <a:rPr sz="1200" b="1" dirty="0" err="1">
                <a:solidFill>
                  <a:srgbClr val="23283C"/>
                </a:solidFill>
                <a:latin typeface="Noto Sans KR"/>
              </a:rPr>
              <a:t>대화</a:t>
            </a:r>
            <a:r>
              <a:rPr sz="1200" b="1" dirty="0">
                <a:solidFill>
                  <a:srgbClr val="23283C"/>
                </a:solidFill>
                <a:latin typeface="Noto Sans KR"/>
              </a:rPr>
              <a:t> + </a:t>
            </a:r>
            <a:r>
              <a:rPr sz="1200" b="1" dirty="0" err="1">
                <a:solidFill>
                  <a:srgbClr val="23283C"/>
                </a:solidFill>
                <a:latin typeface="Noto Sans KR"/>
              </a:rPr>
              <a:t>지도</a:t>
            </a:r>
            <a:r>
              <a:rPr sz="1200" b="1" dirty="0">
                <a:solidFill>
                  <a:srgbClr val="23283C"/>
                </a:solidFill>
                <a:latin typeface="Noto Sans KR"/>
              </a:rPr>
              <a:t> + </a:t>
            </a:r>
            <a:r>
              <a:rPr sz="1200" b="1" dirty="0" err="1">
                <a:solidFill>
                  <a:srgbClr val="23283C"/>
                </a:solidFill>
                <a:latin typeface="Noto Sans KR"/>
              </a:rPr>
              <a:t>시장</a:t>
            </a:r>
            <a:r>
              <a:rPr sz="1200" b="1" dirty="0">
                <a:solidFill>
                  <a:srgbClr val="23283C"/>
                </a:solidFill>
                <a:latin typeface="Noto Sans KR"/>
              </a:rPr>
              <a:t> </a:t>
            </a:r>
            <a:r>
              <a:rPr sz="1200" b="1" dirty="0" err="1">
                <a:solidFill>
                  <a:srgbClr val="23283C"/>
                </a:solidFill>
                <a:latin typeface="Noto Sans KR"/>
              </a:rPr>
              <a:t>데이터</a:t>
            </a:r>
            <a:endParaRPr sz="1200" b="1" dirty="0">
              <a:solidFill>
                <a:srgbClr val="23283C"/>
              </a:solidFill>
              <a:latin typeface="Noto Sans KR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617720" y="1965960"/>
            <a:ext cx="690372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92040" y="2318004"/>
            <a:ext cx="502920" cy="3200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 dirty="0">
                <a:solidFill>
                  <a:srgbClr val="1FD4C4"/>
                </a:solidFill>
                <a:latin typeface="Noto Sans KR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304288"/>
            <a:ext cx="2240280" cy="34747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500" b="1" dirty="0" err="1">
                <a:solidFill>
                  <a:srgbClr val="0F203A"/>
                </a:solidFill>
                <a:latin typeface="Noto Sans KR"/>
              </a:rPr>
              <a:t>조건을</a:t>
            </a:r>
            <a:r>
              <a:rPr sz="15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500" b="1" dirty="0" err="1">
                <a:solidFill>
                  <a:srgbClr val="0F203A"/>
                </a:solidFill>
                <a:latin typeface="Noto Sans KR"/>
              </a:rPr>
              <a:t>자연스럽게</a:t>
            </a:r>
            <a:r>
              <a:rPr sz="15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500" b="1" dirty="0" err="1">
                <a:solidFill>
                  <a:srgbClr val="0F203A"/>
                </a:solidFill>
                <a:latin typeface="Noto Sans KR"/>
              </a:rPr>
              <a:t>정리</a:t>
            </a:r>
            <a:endParaRPr sz="1500" b="1" dirty="0">
              <a:solidFill>
                <a:srgbClr val="0F203A"/>
              </a:solidFill>
              <a:latin typeface="Noto Sans K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35240" y="2348758"/>
            <a:ext cx="3630168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 dirty="0" err="1">
                <a:solidFill>
                  <a:srgbClr val="708297"/>
                </a:solidFill>
                <a:latin typeface="Noto Sans KR"/>
              </a:rPr>
              <a:t>지역·예산·주거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형태·선호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조건을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단계적으로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구체화</a:t>
            </a:r>
            <a:endParaRPr sz="1200" b="0" dirty="0">
              <a:solidFill>
                <a:srgbClr val="708297"/>
              </a:solidFill>
              <a:latin typeface="Noto Sans KR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617720" y="3200400"/>
            <a:ext cx="690372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92040" y="3552444"/>
            <a:ext cx="502920" cy="3200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1FD4C4"/>
                </a:solidFill>
                <a:latin typeface="Noto Sans KR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538728"/>
            <a:ext cx="2240280" cy="34747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500" b="1">
                <a:solidFill>
                  <a:srgbClr val="0F203A"/>
                </a:solidFill>
                <a:latin typeface="Noto Sans KR"/>
              </a:rPr>
              <a:t>지역과 매물을 함께 비교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583198"/>
            <a:ext cx="3630168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708297"/>
                </a:solidFill>
                <a:latin typeface="Noto Sans KR"/>
              </a:rPr>
              <a:t>지도 매물에 POI·학군·교통 맥락을 결합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4434840"/>
            <a:ext cx="690372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4786884"/>
            <a:ext cx="502920" cy="3200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1FD4C4"/>
                </a:solidFill>
                <a:latin typeface="Noto Sans KR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773168"/>
            <a:ext cx="2240280" cy="34747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500" b="1">
                <a:solidFill>
                  <a:srgbClr val="0F203A"/>
                </a:solidFill>
                <a:latin typeface="Noto Sans KR"/>
              </a:rPr>
              <a:t>데이터로 판단을 지원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4817638"/>
            <a:ext cx="3630168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708297"/>
                </a:solidFill>
                <a:latin typeface="Noto Sans KR"/>
              </a:rPr>
              <a:t>실거래가·거래량·금리 등 시장 지표를 시각화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797296"/>
            <a:ext cx="91440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300" b="1" dirty="0" err="1">
                <a:solidFill>
                  <a:srgbClr val="1E88F7"/>
                </a:solidFill>
                <a:latin typeface="Noto Sans KR"/>
              </a:rPr>
              <a:t>기대</a:t>
            </a:r>
            <a:r>
              <a:rPr sz="1300" b="1" dirty="0">
                <a:solidFill>
                  <a:srgbClr val="1E88F7"/>
                </a:solidFill>
                <a:latin typeface="Noto Sans KR"/>
              </a:rPr>
              <a:t> </a:t>
            </a:r>
            <a:r>
              <a:rPr sz="1300" b="1" dirty="0" err="1">
                <a:solidFill>
                  <a:srgbClr val="1E88F7"/>
                </a:solidFill>
                <a:latin typeface="Noto Sans KR"/>
              </a:rPr>
              <a:t>효과</a:t>
            </a:r>
            <a:endParaRPr sz="1300" b="1" dirty="0">
              <a:solidFill>
                <a:srgbClr val="1E88F7"/>
              </a:solidFill>
              <a:latin typeface="Noto Sans KR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532120" y="5769864"/>
            <a:ext cx="5760720" cy="32918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300" b="1" dirty="0" err="1">
                <a:solidFill>
                  <a:srgbClr val="0F203A"/>
                </a:solidFill>
                <a:latin typeface="Noto Sans KR"/>
              </a:rPr>
              <a:t>탐색</a:t>
            </a:r>
            <a:r>
              <a:rPr sz="13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300" b="1" dirty="0" err="1">
                <a:solidFill>
                  <a:srgbClr val="0F203A"/>
                </a:solidFill>
                <a:latin typeface="Noto Sans KR"/>
              </a:rPr>
              <a:t>시간</a:t>
            </a:r>
            <a:r>
              <a:rPr sz="13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300" b="1" dirty="0" err="1">
                <a:solidFill>
                  <a:srgbClr val="0F203A"/>
                </a:solidFill>
                <a:latin typeface="Noto Sans KR"/>
              </a:rPr>
              <a:t>절감</a:t>
            </a:r>
            <a:r>
              <a:rPr sz="1300" b="1" dirty="0">
                <a:solidFill>
                  <a:srgbClr val="0F203A"/>
                </a:solidFill>
                <a:latin typeface="Noto Sans KR"/>
              </a:rPr>
              <a:t>  ·  </a:t>
            </a:r>
            <a:r>
              <a:rPr sz="1300" b="1" dirty="0" err="1">
                <a:solidFill>
                  <a:srgbClr val="0F203A"/>
                </a:solidFill>
                <a:latin typeface="Noto Sans KR"/>
              </a:rPr>
              <a:t>비교</a:t>
            </a:r>
            <a:r>
              <a:rPr sz="13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300" b="1" dirty="0" err="1">
                <a:solidFill>
                  <a:srgbClr val="0F203A"/>
                </a:solidFill>
                <a:latin typeface="Noto Sans KR"/>
              </a:rPr>
              <a:t>맥락</a:t>
            </a:r>
            <a:r>
              <a:rPr sz="13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300" b="1" dirty="0" err="1">
                <a:solidFill>
                  <a:srgbClr val="0F203A"/>
                </a:solidFill>
                <a:latin typeface="Noto Sans KR"/>
              </a:rPr>
              <a:t>강화</a:t>
            </a:r>
            <a:r>
              <a:rPr sz="1300" b="1" dirty="0">
                <a:solidFill>
                  <a:srgbClr val="0F203A"/>
                </a:solidFill>
                <a:latin typeface="Noto Sans KR"/>
              </a:rPr>
              <a:t>  ·  </a:t>
            </a:r>
            <a:r>
              <a:rPr sz="1300" b="1" dirty="0" err="1">
                <a:solidFill>
                  <a:srgbClr val="0F203A"/>
                </a:solidFill>
                <a:latin typeface="Noto Sans KR"/>
              </a:rPr>
              <a:t>개인화</a:t>
            </a:r>
            <a:r>
              <a:rPr sz="13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300" b="1" dirty="0" err="1">
                <a:solidFill>
                  <a:srgbClr val="0F203A"/>
                </a:solidFill>
                <a:latin typeface="Noto Sans KR"/>
              </a:rPr>
              <a:t>서비스</a:t>
            </a:r>
            <a:r>
              <a:rPr sz="13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300" b="1" dirty="0" err="1">
                <a:solidFill>
                  <a:srgbClr val="0F203A"/>
                </a:solidFill>
                <a:latin typeface="Noto Sans KR"/>
              </a:rPr>
              <a:t>확장</a:t>
            </a:r>
            <a:r>
              <a:rPr sz="13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300" b="1" dirty="0" err="1">
                <a:solidFill>
                  <a:srgbClr val="0F203A"/>
                </a:solidFill>
                <a:latin typeface="Noto Sans KR"/>
              </a:rPr>
              <a:t>기반</a:t>
            </a:r>
            <a:endParaRPr sz="1300" b="1" dirty="0">
              <a:solidFill>
                <a:srgbClr val="0F203A"/>
              </a:solidFill>
              <a:latin typeface="Noto Sans KR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80" y="6528816"/>
            <a:ext cx="7315200" cy="16459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800" b="0">
                <a:solidFill>
                  <a:srgbClr val="708297"/>
                </a:solidFill>
                <a:latin typeface="Noto Sans KR"/>
              </a:rPr>
              <a:t>집찾GO · AI &amp; Data-driven Real Estate Web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528816"/>
            <a:ext cx="1097280" cy="16459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800" b="1">
                <a:solidFill>
                  <a:srgbClr val="708297"/>
                </a:solidFill>
                <a:latin typeface="Noto Sans KR"/>
              </a:rPr>
              <a:t>ZIP-CHATGO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52466"/>
            <a:ext cx="3200400" cy="227755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000" b="1" dirty="0">
                <a:solidFill>
                  <a:srgbClr val="1E88F7"/>
                </a:solidFill>
                <a:latin typeface="Noto Sans KR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53035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2600" b="1">
                <a:solidFill>
                  <a:srgbClr val="0F203A"/>
                </a:solidFill>
                <a:latin typeface="Noto Sans KR"/>
              </a:rPr>
              <a:t>팀 소개 및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51478"/>
            <a:ext cx="1060704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 dirty="0" err="1">
                <a:solidFill>
                  <a:srgbClr val="708297"/>
                </a:solidFill>
                <a:latin typeface="Noto Sans KR"/>
              </a:rPr>
              <a:t>기능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단위로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책임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영역을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나누고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Git/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GitHub로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통합</a:t>
            </a:r>
            <a:endParaRPr sz="1200" b="0" dirty="0">
              <a:solidFill>
                <a:srgbClr val="708297"/>
              </a:solidFill>
              <a:latin typeface="Noto Sans K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47472"/>
            <a:ext cx="457200" cy="22860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900" b="1">
                <a:solidFill>
                  <a:srgbClr val="708297"/>
                </a:solidFill>
                <a:latin typeface="Noto Sans KR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18488"/>
            <a:ext cx="548640" cy="41148"/>
          </a:xfrm>
          <a:prstGeom prst="rect">
            <a:avLst/>
          </a:prstGeom>
          <a:solidFill>
            <a:srgbClr val="1FD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2542032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04671" y="2267712"/>
            <a:ext cx="566928" cy="566928"/>
          </a:xfrm>
          <a:prstGeom prst="ellipse">
            <a:avLst/>
          </a:prstGeom>
          <a:solidFill>
            <a:srgbClr val="1E8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2267712"/>
            <a:ext cx="566928" cy="56692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KR"/>
              </a:rPr>
              <a:t>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267712"/>
            <a:ext cx="1417320" cy="29260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600" b="1">
                <a:solidFill>
                  <a:srgbClr val="0F203A"/>
                </a:solidFill>
                <a:latin typeface="Noto Sans KR"/>
              </a:rPr>
              <a:t>안종범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632222"/>
            <a:ext cx="141732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 dirty="0" err="1">
                <a:solidFill>
                  <a:srgbClr val="1E88F7"/>
                </a:solidFill>
                <a:latin typeface="Noto Sans KR"/>
              </a:rPr>
              <a:t>지도</a:t>
            </a:r>
            <a:r>
              <a:rPr sz="1200" b="1" dirty="0">
                <a:solidFill>
                  <a:srgbClr val="1E88F7"/>
                </a:solidFill>
                <a:latin typeface="Noto Sans KR"/>
              </a:rPr>
              <a:t> </a:t>
            </a:r>
            <a:r>
              <a:rPr sz="1200" b="1" dirty="0" err="1">
                <a:solidFill>
                  <a:srgbClr val="1E88F7"/>
                </a:solidFill>
                <a:latin typeface="Noto Sans KR"/>
              </a:rPr>
              <a:t>기반</a:t>
            </a:r>
            <a:r>
              <a:rPr sz="1200" b="1" dirty="0">
                <a:solidFill>
                  <a:srgbClr val="1E88F7"/>
                </a:solidFill>
                <a:latin typeface="Noto Sans KR"/>
              </a:rPr>
              <a:t> </a:t>
            </a:r>
            <a:r>
              <a:rPr sz="1200" b="1" dirty="0" err="1">
                <a:solidFill>
                  <a:srgbClr val="1E88F7"/>
                </a:solidFill>
                <a:latin typeface="Noto Sans KR"/>
              </a:rPr>
              <a:t>매물</a:t>
            </a:r>
            <a:r>
              <a:rPr sz="1200" b="1" dirty="0">
                <a:solidFill>
                  <a:srgbClr val="1E88F7"/>
                </a:solidFill>
                <a:latin typeface="Noto Sans KR"/>
              </a:rPr>
              <a:t> </a:t>
            </a:r>
            <a:r>
              <a:rPr sz="1200" b="1" dirty="0" err="1">
                <a:solidFill>
                  <a:srgbClr val="1E88F7"/>
                </a:solidFill>
                <a:latin typeface="Noto Sans KR"/>
              </a:rPr>
              <a:t>탐색</a:t>
            </a:r>
            <a:endParaRPr sz="1200" b="1" dirty="0">
              <a:solidFill>
                <a:srgbClr val="1E88F7"/>
              </a:solidFill>
              <a:latin typeface="Noto Sans K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4381" y="3550301"/>
            <a:ext cx="2313430" cy="44319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 dirty="0">
                <a:solidFill>
                  <a:srgbClr val="708297"/>
                </a:solidFill>
                <a:latin typeface="Noto Sans KR"/>
              </a:rPr>
              <a:t>Naver Maps ·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데이터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가공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
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클러스터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·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검색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/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필터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· POI ·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학군</a:t>
            </a:r>
            <a:endParaRPr sz="1200" b="0" dirty="0">
              <a:solidFill>
                <a:srgbClr val="708297"/>
              </a:solidFill>
              <a:latin typeface="Noto Sans K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4948553"/>
            <a:ext cx="365760" cy="28931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400" b="1" dirty="0">
                <a:solidFill>
                  <a:srgbClr val="708297"/>
                </a:solidFill>
                <a:latin typeface="Noto Sans KR"/>
              </a:rPr>
              <a:t>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1" y="2057400"/>
            <a:ext cx="2542032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575303" y="2267712"/>
            <a:ext cx="566928" cy="566928"/>
          </a:xfrm>
          <a:prstGeom prst="ellipse">
            <a:avLst/>
          </a:prstGeom>
          <a:solidFill>
            <a:srgbClr val="1FD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75303" y="2267712"/>
            <a:ext cx="566928" cy="56692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KR"/>
              </a:rPr>
              <a:t>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2267712"/>
            <a:ext cx="1417320" cy="29260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600" b="1">
                <a:solidFill>
                  <a:srgbClr val="0F203A"/>
                </a:solidFill>
                <a:latin typeface="Noto Sans KR"/>
              </a:rPr>
              <a:t>이승호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632222"/>
            <a:ext cx="1645919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1E88F7"/>
                </a:solidFill>
                <a:latin typeface="Noto Sans KR"/>
              </a:rPr>
              <a:t>메인 · 시장동향 · 회원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3383" y="3550301"/>
            <a:ext cx="2456689" cy="44319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 dirty="0" err="1">
                <a:solidFill>
                  <a:srgbClr val="708297"/>
                </a:solidFill>
                <a:latin typeface="Noto Sans KR"/>
              </a:rPr>
              <a:t>메인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진입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흐름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·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차트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
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국토부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OpenAPI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·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로그인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/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회원가입</a:t>
            </a:r>
            <a:endParaRPr sz="1200" b="0" dirty="0">
              <a:solidFill>
                <a:srgbClr val="708297"/>
              </a:solidFill>
              <a:latin typeface="Noto Sans K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39311" y="4948553"/>
            <a:ext cx="365760" cy="28931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400" b="1">
                <a:solidFill>
                  <a:srgbClr val="708297"/>
                </a:solidFill>
                <a:latin typeface="Noto Sans KR"/>
              </a:rPr>
              <a:t>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2057400"/>
            <a:ext cx="2542032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45936" y="2267712"/>
            <a:ext cx="566928" cy="566928"/>
          </a:xfrm>
          <a:prstGeom prst="ellipse">
            <a:avLst/>
          </a:prstGeom>
          <a:solidFill>
            <a:srgbClr val="29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45936" y="2267712"/>
            <a:ext cx="566928" cy="56692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KR"/>
              </a:rPr>
              <a:t>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0024" y="2267712"/>
            <a:ext cx="1417320" cy="29260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600" b="1">
                <a:solidFill>
                  <a:srgbClr val="0F203A"/>
                </a:solidFill>
                <a:latin typeface="Noto Sans KR"/>
              </a:rPr>
              <a:t>맹준영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0023" y="2632222"/>
            <a:ext cx="1581911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 dirty="0" err="1">
                <a:solidFill>
                  <a:srgbClr val="1E88F7"/>
                </a:solidFill>
                <a:latin typeface="Noto Sans KR"/>
              </a:rPr>
              <a:t>매물</a:t>
            </a:r>
            <a:r>
              <a:rPr sz="1200" b="1" dirty="0">
                <a:solidFill>
                  <a:srgbClr val="1E88F7"/>
                </a:solidFill>
                <a:latin typeface="Noto Sans KR"/>
              </a:rPr>
              <a:t> </a:t>
            </a:r>
            <a:r>
              <a:rPr sz="1200" b="1" dirty="0" err="1">
                <a:solidFill>
                  <a:srgbClr val="1E88F7"/>
                </a:solidFill>
                <a:latin typeface="Noto Sans KR"/>
              </a:rPr>
              <a:t>등록</a:t>
            </a:r>
            <a:r>
              <a:rPr sz="1200" b="1" dirty="0">
                <a:solidFill>
                  <a:srgbClr val="1E88F7"/>
                </a:solidFill>
                <a:latin typeface="Noto Sans KR"/>
              </a:rPr>
              <a:t> · </a:t>
            </a:r>
            <a:r>
              <a:rPr sz="1200" b="1" dirty="0" err="1">
                <a:solidFill>
                  <a:srgbClr val="1E88F7"/>
                </a:solidFill>
                <a:latin typeface="Noto Sans KR"/>
              </a:rPr>
              <a:t>고객지원</a:t>
            </a:r>
            <a:endParaRPr sz="1200" b="1" dirty="0">
              <a:solidFill>
                <a:srgbClr val="1E88F7"/>
              </a:solidFill>
              <a:latin typeface="Noto Sans KR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95645" y="3550301"/>
            <a:ext cx="2313430" cy="44319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 dirty="0">
                <a:solidFill>
                  <a:srgbClr val="708297"/>
                </a:solidFill>
                <a:latin typeface="Noto Sans KR"/>
              </a:rPr>
              <a:t>4단계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등록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폼 ·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이미지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미리보기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
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이용가이드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· FAQ ·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문의</a:t>
            </a:r>
            <a:endParaRPr sz="1200" b="0" dirty="0">
              <a:solidFill>
                <a:srgbClr val="708297"/>
              </a:solidFill>
              <a:latin typeface="Noto Sans KR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9944" y="4948553"/>
            <a:ext cx="365760" cy="28931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400" b="1">
                <a:solidFill>
                  <a:srgbClr val="708297"/>
                </a:solidFill>
                <a:latin typeface="Noto Sans KR"/>
              </a:rPr>
              <a:t>03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1976" y="2057400"/>
            <a:ext cx="2542032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116567" y="2267712"/>
            <a:ext cx="566928" cy="566928"/>
          </a:xfrm>
          <a:prstGeom prst="ellipse">
            <a:avLst/>
          </a:prstGeom>
          <a:solidFill>
            <a:srgbClr val="162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16567" y="2267712"/>
            <a:ext cx="566928" cy="56692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KR"/>
              </a:rPr>
              <a:t>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0655" y="2267712"/>
            <a:ext cx="1417320" cy="29260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600" b="1">
                <a:solidFill>
                  <a:srgbClr val="0F203A"/>
                </a:solidFill>
                <a:latin typeface="Noto Sans KR"/>
              </a:rPr>
              <a:t>황상옥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0654" y="2632222"/>
            <a:ext cx="1609345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 dirty="0" err="1">
                <a:solidFill>
                  <a:srgbClr val="1E88F7"/>
                </a:solidFill>
                <a:latin typeface="Noto Sans KR"/>
              </a:rPr>
              <a:t>서비스</a:t>
            </a:r>
            <a:r>
              <a:rPr sz="1200" b="1" dirty="0">
                <a:solidFill>
                  <a:srgbClr val="1E88F7"/>
                </a:solidFill>
                <a:latin typeface="Noto Sans KR"/>
              </a:rPr>
              <a:t> · </a:t>
            </a:r>
            <a:r>
              <a:rPr sz="1200" b="1" dirty="0" err="1">
                <a:solidFill>
                  <a:srgbClr val="1E88F7"/>
                </a:solidFill>
                <a:latin typeface="Noto Sans KR"/>
              </a:rPr>
              <a:t>프로젝트</a:t>
            </a:r>
            <a:r>
              <a:rPr sz="1200" b="1" dirty="0">
                <a:solidFill>
                  <a:srgbClr val="1E88F7"/>
                </a:solidFill>
                <a:latin typeface="Noto Sans KR"/>
              </a:rPr>
              <a:t> </a:t>
            </a:r>
            <a:r>
              <a:rPr sz="1200" b="1" dirty="0" err="1">
                <a:solidFill>
                  <a:srgbClr val="1E88F7"/>
                </a:solidFill>
                <a:latin typeface="Noto Sans KR"/>
              </a:rPr>
              <a:t>소개</a:t>
            </a:r>
            <a:endParaRPr sz="1200" b="1" dirty="0">
              <a:solidFill>
                <a:srgbClr val="1E88F7"/>
              </a:solidFill>
              <a:latin typeface="Noto Sans KR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066277" y="3550301"/>
            <a:ext cx="2313430" cy="44319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 dirty="0" err="1">
                <a:solidFill>
                  <a:srgbClr val="708297"/>
                </a:solidFill>
                <a:latin typeface="Noto Sans KR"/>
              </a:rPr>
              <a:t>서비스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핵심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가치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·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이용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흐름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
팀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소개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콘텐츠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·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화면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디자인</a:t>
            </a:r>
            <a:endParaRPr sz="1200" b="0" dirty="0">
              <a:solidFill>
                <a:srgbClr val="708297"/>
              </a:solidFill>
              <a:latin typeface="Noto Sans KR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180576" y="4948553"/>
            <a:ext cx="365760" cy="28931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400" b="1">
                <a:solidFill>
                  <a:srgbClr val="708297"/>
                </a:solidFill>
                <a:latin typeface="Noto Sans KR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870448"/>
            <a:ext cx="914400" cy="2560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 dirty="0" err="1">
                <a:solidFill>
                  <a:srgbClr val="1E88F7"/>
                </a:solidFill>
                <a:latin typeface="Noto Sans KR"/>
              </a:rPr>
              <a:t>협업</a:t>
            </a:r>
            <a:r>
              <a:rPr sz="1200" b="1" dirty="0">
                <a:solidFill>
                  <a:srgbClr val="1E88F7"/>
                </a:solidFill>
                <a:latin typeface="Noto Sans KR"/>
              </a:rPr>
              <a:t> </a:t>
            </a:r>
            <a:r>
              <a:rPr sz="1200" b="1" dirty="0" err="1">
                <a:solidFill>
                  <a:srgbClr val="1E88F7"/>
                </a:solidFill>
                <a:latin typeface="Noto Sans KR"/>
              </a:rPr>
              <a:t>방식</a:t>
            </a:r>
            <a:endParaRPr sz="1200" b="1" dirty="0">
              <a:solidFill>
                <a:srgbClr val="1E88F7"/>
              </a:solidFill>
              <a:latin typeface="Noto Sans KR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600200" y="5869198"/>
            <a:ext cx="932688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0F203A"/>
                </a:solidFill>
                <a:latin typeface="Noto Sans KR"/>
              </a:rPr>
              <a:t>기획·공통 구조 → 기능별 구현 → Git/GitHub 통합 → 페이지 연결·반응형·문서 보완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28816"/>
            <a:ext cx="7315200" cy="16459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800" b="0">
                <a:solidFill>
                  <a:srgbClr val="708297"/>
                </a:solidFill>
                <a:latin typeface="Noto Sans KR"/>
              </a:rPr>
              <a:t>집찾GO · AI &amp; Data-driven Real Estate Web Service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528816"/>
            <a:ext cx="1097280" cy="16459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800" b="1">
                <a:solidFill>
                  <a:srgbClr val="708297"/>
                </a:solidFill>
                <a:latin typeface="Noto Sans KR"/>
              </a:rPr>
              <a:t>ZIP-CHATGO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52466"/>
            <a:ext cx="3200400" cy="227755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000" b="1" dirty="0">
                <a:solidFill>
                  <a:srgbClr val="1E88F7"/>
                </a:solidFill>
                <a:latin typeface="Noto Sans KR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53035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2600" b="1">
                <a:solidFill>
                  <a:srgbClr val="0F203A"/>
                </a:solidFill>
                <a:latin typeface="Noto Sans KR"/>
              </a:rPr>
              <a:t>개발 환경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51478"/>
            <a:ext cx="1060704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708297"/>
                </a:solidFill>
                <a:latin typeface="Noto Sans KR"/>
              </a:rPr>
              <a:t>정적 프론트엔드를 중심으로 지도·공공데이터·로컬 저장소를 결합한 데모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47472"/>
            <a:ext cx="457200" cy="22860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900" b="1">
                <a:solidFill>
                  <a:srgbClr val="708297"/>
                </a:solidFill>
                <a:latin typeface="Noto Sans KR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18488"/>
            <a:ext cx="548640" cy="41148"/>
          </a:xfrm>
          <a:prstGeom prst="rect">
            <a:avLst/>
          </a:prstGeom>
          <a:solidFill>
            <a:srgbClr val="1FD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109728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2093975"/>
            <a:ext cx="219456" cy="219456"/>
          </a:xfrm>
          <a:prstGeom prst="ellipse">
            <a:avLst/>
          </a:prstGeom>
          <a:solidFill>
            <a:srgbClr val="1E8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2089825"/>
            <a:ext cx="1234440" cy="227755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000" b="1" dirty="0">
                <a:solidFill>
                  <a:srgbClr val="708297"/>
                </a:solidFill>
                <a:latin typeface="Noto Sans KR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029967"/>
            <a:ext cx="3703320" cy="34747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  <a:latin typeface="Noto Sans KR"/>
              </a:rPr>
              <a:t>HTML5 / CSS3 / JavaScript ES6+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74437"/>
            <a:ext cx="470916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 dirty="0" err="1">
                <a:solidFill>
                  <a:srgbClr val="708297"/>
                </a:solidFill>
                <a:latin typeface="Noto Sans KR"/>
              </a:rPr>
              <a:t>반응형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UI ·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동적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렌더링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· 폼/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대화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흐름</a:t>
            </a:r>
            <a:endParaRPr sz="1200" b="0" dirty="0">
              <a:solidFill>
                <a:srgbClr val="708297"/>
              </a:solidFill>
              <a:latin typeface="Noto Sans KR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2706624"/>
            <a:ext cx="109728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68680" y="2926080"/>
            <a:ext cx="219456" cy="219456"/>
          </a:xfrm>
          <a:prstGeom prst="ellipse">
            <a:avLst/>
          </a:prstGeom>
          <a:solidFill>
            <a:srgbClr val="1FD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2921930"/>
            <a:ext cx="1234440" cy="227755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000" b="1">
                <a:solidFill>
                  <a:srgbClr val="708297"/>
                </a:solidFill>
                <a:latin typeface="Noto Sans KR"/>
              </a:rPr>
              <a:t>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862072"/>
            <a:ext cx="3703320" cy="34747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  <a:latin typeface="Noto Sans KR"/>
              </a:rPr>
              <a:t>Naver Maps JS API / Supercluster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06542"/>
            <a:ext cx="470916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708297"/>
                </a:solidFill>
                <a:latin typeface="Noto Sans KR"/>
              </a:rPr>
              <a:t>약 4,970건 매물 · 확대 단계별 클러스터링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38728"/>
            <a:ext cx="109728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8680" y="3758184"/>
            <a:ext cx="219456" cy="219456"/>
          </a:xfrm>
          <a:prstGeom prst="ellipse">
            <a:avLst/>
          </a:prstGeom>
          <a:solidFill>
            <a:srgbClr val="29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3754034"/>
            <a:ext cx="1234440" cy="227755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000" b="1">
                <a:solidFill>
                  <a:srgbClr val="708297"/>
                </a:solidFill>
                <a:latin typeface="Noto Sans KR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694176"/>
            <a:ext cx="3703320" cy="34747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  <a:latin typeface="Noto Sans KR"/>
              </a:rPr>
              <a:t>JSON / Web Storage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38646"/>
            <a:ext cx="470916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708297"/>
                </a:solidFill>
                <a:latin typeface="Noto Sans KR"/>
              </a:rPr>
              <a:t>매물·POI·학군 · 로그인/관심목록 임시 저장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70831"/>
            <a:ext cx="109728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68680" y="4590287"/>
            <a:ext cx="219456" cy="219456"/>
          </a:xfrm>
          <a:prstGeom prst="ellipse">
            <a:avLst/>
          </a:prstGeom>
          <a:solidFill>
            <a:srgbClr val="162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34440" y="4586137"/>
            <a:ext cx="1234440" cy="227755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000" b="1">
                <a:solidFill>
                  <a:srgbClr val="708297"/>
                </a:solidFill>
                <a:latin typeface="Noto Sans KR"/>
              </a:rPr>
              <a:t>MARKET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526279"/>
            <a:ext cx="3703320" cy="34747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  <a:latin typeface="Noto Sans KR"/>
              </a:rPr>
              <a:t>Node.js / Express / fast-xml-parser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570749"/>
            <a:ext cx="470916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708297"/>
                </a:solidFill>
                <a:latin typeface="Noto Sans KR"/>
              </a:rPr>
              <a:t>국토교통부 실거래가 OpenAPI 연동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202936"/>
            <a:ext cx="109728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68680" y="5422392"/>
            <a:ext cx="219456" cy="219456"/>
          </a:xfrm>
          <a:prstGeom prst="ellipse">
            <a:avLst/>
          </a:prstGeom>
          <a:solidFill>
            <a:srgbClr val="65E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34440" y="5418242"/>
            <a:ext cx="1234440" cy="227755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000" b="1">
                <a:solidFill>
                  <a:srgbClr val="708297"/>
                </a:solidFill>
                <a:latin typeface="Noto Sans KR"/>
              </a:rPr>
              <a:t>COLLAB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5358384"/>
            <a:ext cx="3703320" cy="34747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  <a:latin typeface="Noto Sans KR"/>
              </a:rPr>
              <a:t>Git / GitHub / GitHub Pages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402854"/>
            <a:ext cx="470916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708297"/>
                </a:solidFill>
                <a:latin typeface="Noto Sans KR"/>
              </a:rPr>
              <a:t>버전 관리 · 팀 협업 · 정적 데모 배포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6135624"/>
            <a:ext cx="960120" cy="310896"/>
          </a:xfrm>
          <a:prstGeom prst="roundRect">
            <a:avLst/>
          </a:prstGeom>
          <a:solidFill>
            <a:srgbClr val="EBF6FF"/>
          </a:solidFill>
          <a:ln w="10160">
            <a:solidFill>
              <a:srgbClr val="EB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6161806"/>
            <a:ext cx="96012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200" b="1" dirty="0" err="1">
                <a:solidFill>
                  <a:srgbClr val="1E88F7"/>
                </a:solidFill>
                <a:latin typeface="Noto Sans KR"/>
              </a:rPr>
              <a:t>현재</a:t>
            </a:r>
            <a:r>
              <a:rPr sz="1200" b="1" dirty="0">
                <a:solidFill>
                  <a:srgbClr val="1E88F7"/>
                </a:solidFill>
                <a:latin typeface="Noto Sans KR"/>
              </a:rPr>
              <a:t> </a:t>
            </a:r>
            <a:r>
              <a:rPr sz="1200" b="1" dirty="0" err="1">
                <a:solidFill>
                  <a:srgbClr val="1E88F7"/>
                </a:solidFill>
                <a:latin typeface="Noto Sans KR"/>
              </a:rPr>
              <a:t>구조</a:t>
            </a:r>
            <a:endParaRPr sz="1200" b="1" dirty="0">
              <a:solidFill>
                <a:srgbClr val="1E88F7"/>
              </a:solidFill>
              <a:latin typeface="Noto Sans KR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737360" y="6161806"/>
            <a:ext cx="548640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 dirty="0">
                <a:solidFill>
                  <a:srgbClr val="0F203A"/>
                </a:solidFill>
                <a:latin typeface="Noto Sans KR"/>
              </a:rPr>
              <a:t>Frontend + Market API Server + Local JSON/Web Storage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528816"/>
            <a:ext cx="7315200" cy="16459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800" b="0">
                <a:solidFill>
                  <a:srgbClr val="708297"/>
                </a:solidFill>
                <a:latin typeface="Noto Sans KR"/>
              </a:rPr>
              <a:t>집찾GO · AI &amp; Data-driven Real Estate Web Service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528816"/>
            <a:ext cx="1097280" cy="16459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800" b="1">
                <a:solidFill>
                  <a:srgbClr val="708297"/>
                </a:solidFill>
                <a:latin typeface="Noto Sans KR"/>
              </a:rPr>
              <a:t>ZIP-CHATGO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52466"/>
            <a:ext cx="3200400" cy="227755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000" b="1">
                <a:solidFill>
                  <a:srgbClr val="1E88F7"/>
                </a:solidFill>
                <a:latin typeface="Noto Sans KR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53035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2600" b="1" dirty="0" err="1">
                <a:solidFill>
                  <a:srgbClr val="0F203A"/>
                </a:solidFill>
                <a:latin typeface="Noto Sans KR"/>
              </a:rPr>
              <a:t>프로젝트</a:t>
            </a:r>
            <a:r>
              <a:rPr sz="26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2600" b="1" dirty="0" err="1">
                <a:solidFill>
                  <a:srgbClr val="0F203A"/>
                </a:solidFill>
                <a:latin typeface="Noto Sans KR"/>
              </a:rPr>
              <a:t>구조</a:t>
            </a:r>
            <a:r>
              <a:rPr sz="2600" b="1" dirty="0">
                <a:solidFill>
                  <a:srgbClr val="0F203A"/>
                </a:solidFill>
                <a:latin typeface="Noto Sans KR"/>
              </a:rPr>
              <a:t> 및 </a:t>
            </a:r>
            <a:r>
              <a:rPr sz="2600" b="1" dirty="0" err="1">
                <a:solidFill>
                  <a:srgbClr val="0F203A"/>
                </a:solidFill>
                <a:latin typeface="Noto Sans KR"/>
              </a:rPr>
              <a:t>코드</a:t>
            </a:r>
            <a:r>
              <a:rPr sz="26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2600" b="1" dirty="0" err="1">
                <a:solidFill>
                  <a:srgbClr val="0F203A"/>
                </a:solidFill>
                <a:latin typeface="Noto Sans KR"/>
              </a:rPr>
              <a:t>설계</a:t>
            </a:r>
            <a:endParaRPr sz="2600" b="1" dirty="0">
              <a:solidFill>
                <a:srgbClr val="0F203A"/>
              </a:solidFill>
              <a:latin typeface="Noto Sans K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251478"/>
            <a:ext cx="1060704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 dirty="0" err="1">
                <a:solidFill>
                  <a:srgbClr val="708297"/>
                </a:solidFill>
                <a:latin typeface="Noto Sans KR"/>
              </a:rPr>
              <a:t>페이지·정적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자원·데이터·API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서버를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역할별로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분리해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확장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가능한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구조로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구성</a:t>
            </a:r>
            <a:endParaRPr sz="1200" b="0" dirty="0">
              <a:solidFill>
                <a:srgbClr val="708297"/>
              </a:solidFill>
              <a:latin typeface="Noto Sans K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47472"/>
            <a:ext cx="457200" cy="22860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900" b="1">
                <a:solidFill>
                  <a:srgbClr val="708297"/>
                </a:solidFill>
                <a:latin typeface="Noto Sans KR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18488"/>
            <a:ext cx="548640" cy="41148"/>
          </a:xfrm>
          <a:prstGeom prst="rect">
            <a:avLst/>
          </a:prstGeom>
          <a:solidFill>
            <a:srgbClr val="1FD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1417320" cy="713232"/>
          </a:xfrm>
          <a:prstGeom prst="roundRect">
            <a:avLst/>
          </a:prstGeom>
          <a:solidFill>
            <a:srgbClr val="EBF6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839635"/>
            <a:ext cx="1161288" cy="227755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000" b="1" dirty="0">
                <a:solidFill>
                  <a:srgbClr val="1E88F7"/>
                </a:solidFill>
                <a:latin typeface="Noto Sans KR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135141"/>
            <a:ext cx="1161288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 dirty="0">
                <a:solidFill>
                  <a:srgbClr val="0F203A"/>
                </a:solidFill>
                <a:latin typeface="Noto Sans KR"/>
              </a:rPr>
              <a:t>Browser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011680"/>
            <a:ext cx="205740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71216" y="2062395"/>
            <a:ext cx="1801368" cy="227755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000" b="1">
                <a:solidFill>
                  <a:srgbClr val="162D58"/>
                </a:solidFill>
                <a:latin typeface="Noto Sans KR"/>
              </a:rPr>
              <a:t>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6" y="2389906"/>
            <a:ext cx="1801368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 dirty="0">
                <a:solidFill>
                  <a:srgbClr val="0F203A"/>
                </a:solidFill>
                <a:latin typeface="Noto Sans KR"/>
              </a:rPr>
              <a:t>HTML / CSS / JS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063240"/>
            <a:ext cx="205740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71216" y="3113955"/>
            <a:ext cx="1801368" cy="227755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000" b="1">
                <a:solidFill>
                  <a:srgbClr val="1FD4C4"/>
                </a:solidFill>
                <a:latin typeface="Noto Sans KR"/>
              </a:rPr>
              <a:t>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1216" y="3349133"/>
            <a:ext cx="1801368" cy="44319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0F203A"/>
                </a:solidFill>
                <a:latin typeface="Noto Sans KR"/>
              </a:rPr>
              <a:t>Naver Maps
Supercluster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011680"/>
            <a:ext cx="224028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51576" y="2062395"/>
            <a:ext cx="1984248" cy="227755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000" b="1">
                <a:solidFill>
                  <a:srgbClr val="29CCE6"/>
                </a:solidFill>
                <a:latin typeface="Noto Sans KR"/>
              </a:rP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51576" y="2297573"/>
            <a:ext cx="1984248" cy="44319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0F203A"/>
                </a:solidFill>
                <a:latin typeface="Noto Sans KR"/>
              </a:rPr>
              <a:t>properties / POI
school zones 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0" y="3063240"/>
            <a:ext cx="224028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51576" y="3113955"/>
            <a:ext cx="1984248" cy="227755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000" b="1">
                <a:solidFill>
                  <a:srgbClr val="1E88F7"/>
                </a:solidFill>
                <a:latin typeface="Noto Sans KR"/>
              </a:rPr>
              <a:t>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51576" y="3441466"/>
            <a:ext cx="1984248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0F203A"/>
                </a:solidFill>
                <a:latin typeface="Noto Sans KR"/>
              </a:rPr>
              <a:t>localStorage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2011680"/>
            <a:ext cx="224028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14816" y="2062395"/>
            <a:ext cx="1984248" cy="227755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000" b="1">
                <a:solidFill>
                  <a:srgbClr val="162D58"/>
                </a:solidFill>
                <a:latin typeface="Noto Sans KR"/>
              </a:rPr>
              <a:t>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14816" y="2389906"/>
            <a:ext cx="1984248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0F203A"/>
                </a:solidFill>
                <a:latin typeface="Noto Sans KR"/>
              </a:rPr>
              <a:t>Node.js / Express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3063240"/>
            <a:ext cx="224028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14816" y="3113955"/>
            <a:ext cx="1984248" cy="227755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000" b="1">
                <a:solidFill>
                  <a:srgbClr val="1FD4C4"/>
                </a:solidFill>
                <a:latin typeface="Noto Sans KR"/>
              </a:rPr>
              <a:t>OPEN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14816" y="3441466"/>
            <a:ext cx="1984248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 dirty="0" err="1">
                <a:solidFill>
                  <a:srgbClr val="0F203A"/>
                </a:solidFill>
                <a:latin typeface="Noto Sans KR"/>
              </a:rPr>
              <a:t>국토교통부</a:t>
            </a:r>
            <a:r>
              <a:rPr lang="en-US" sz="12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200" b="1" dirty="0" err="1">
                <a:solidFill>
                  <a:srgbClr val="0F203A"/>
                </a:solidFill>
                <a:latin typeface="Noto Sans KR"/>
              </a:rPr>
              <a:t>실거래가</a:t>
            </a:r>
            <a:endParaRPr sz="1200" b="1" dirty="0">
              <a:solidFill>
                <a:srgbClr val="0F203A"/>
              </a:solidFill>
              <a:latin typeface="Noto Sans KR"/>
            </a:endParaRPr>
          </a:p>
        </p:txBody>
      </p:sp>
      <p:cxnSp>
        <p:nvCxnSpPr>
          <p:cNvPr id="29" name="Connector 28"/>
          <p:cNvCxnSpPr/>
          <p:nvPr/>
        </p:nvCxnSpPr>
        <p:spPr>
          <a:xfrm flipV="1">
            <a:off x="2148840" y="2404872"/>
            <a:ext cx="594360" cy="740664"/>
          </a:xfrm>
          <a:prstGeom prst="line">
            <a:avLst/>
          </a:prstGeom>
          <a:ln w="17780">
            <a:solidFill>
              <a:srgbClr val="ABC2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148840" y="3145536"/>
            <a:ext cx="594360" cy="310896"/>
          </a:xfrm>
          <a:prstGeom prst="line">
            <a:avLst/>
          </a:prstGeom>
          <a:ln w="17780">
            <a:solidFill>
              <a:srgbClr val="ABC2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800600" y="2404872"/>
            <a:ext cx="822960" cy="0"/>
          </a:xfrm>
          <a:prstGeom prst="line">
            <a:avLst/>
          </a:prstGeom>
          <a:ln w="17780">
            <a:solidFill>
              <a:srgbClr val="ABC2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800600" y="2404872"/>
            <a:ext cx="822960" cy="1051560"/>
          </a:xfrm>
          <a:prstGeom prst="line">
            <a:avLst/>
          </a:prstGeom>
          <a:ln w="17780">
            <a:solidFill>
              <a:srgbClr val="ABC2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863840" y="2404872"/>
            <a:ext cx="822960" cy="0"/>
          </a:xfrm>
          <a:prstGeom prst="line">
            <a:avLst/>
          </a:prstGeom>
          <a:ln w="17780">
            <a:solidFill>
              <a:srgbClr val="ABC2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802368" y="2788920"/>
            <a:ext cx="0" cy="274320"/>
          </a:xfrm>
          <a:prstGeom prst="line">
            <a:avLst/>
          </a:prstGeom>
          <a:ln w="17780">
            <a:solidFill>
              <a:srgbClr val="ABC2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31520" y="4709160"/>
            <a:ext cx="1097280" cy="2560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1E88F7"/>
                </a:solidFill>
                <a:latin typeface="Noto Sans KR"/>
              </a:rPr>
              <a:t>페이지 분리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104781"/>
            <a:ext cx="3154680" cy="44319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708297"/>
                </a:solidFill>
                <a:latin typeface="Noto Sans KR"/>
              </a:rPr>
              <a:t>templates/ai · market · member · property · support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709160"/>
            <a:ext cx="1097280" cy="2560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1E88F7"/>
                </a:solidFill>
                <a:latin typeface="Noto Sans KR"/>
              </a:rPr>
              <a:t>자원 분리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5197114"/>
            <a:ext cx="315468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708297"/>
                </a:solidFill>
                <a:latin typeface="Noto Sans KR"/>
              </a:rPr>
              <a:t>static/css · js · images ·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4709160"/>
            <a:ext cx="1097280" cy="2560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1E88F7"/>
                </a:solidFill>
                <a:latin typeface="Noto Sans KR"/>
              </a:rPr>
              <a:t>확장 포인트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5104781"/>
            <a:ext cx="3154680" cy="44319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708297"/>
                </a:solidFill>
                <a:latin typeface="Noto Sans KR"/>
              </a:rPr>
              <a:t>향후 Spring + MySQL + AI/RPA로 교체 가능한 경계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528816"/>
            <a:ext cx="7315200" cy="16459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800" b="0">
                <a:solidFill>
                  <a:srgbClr val="708297"/>
                </a:solidFill>
                <a:latin typeface="Noto Sans KR"/>
              </a:rPr>
              <a:t>집찾GO · AI &amp; Data-driven Real Estate Web Service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6528816"/>
            <a:ext cx="1097280" cy="16459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800" b="1">
                <a:solidFill>
                  <a:srgbClr val="708297"/>
                </a:solidFill>
                <a:latin typeface="Noto Sans KR"/>
              </a:rPr>
              <a:t>ZIP-CHATGO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52466"/>
            <a:ext cx="3200400" cy="227755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000" b="1" dirty="0">
                <a:solidFill>
                  <a:srgbClr val="1E88F7"/>
                </a:solidFill>
                <a:latin typeface="Noto Sans KR"/>
              </a:rPr>
              <a:t>USER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53035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2600" b="1">
                <a:solidFill>
                  <a:srgbClr val="0F203A"/>
                </a:solidFill>
                <a:latin typeface="Noto Sans KR"/>
              </a:rPr>
              <a:t>서비스 기획 및 사용자 동선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51478"/>
            <a:ext cx="1060704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 dirty="0" err="1">
                <a:solidFill>
                  <a:srgbClr val="708297"/>
                </a:solidFill>
                <a:latin typeface="Noto Sans KR"/>
              </a:rPr>
              <a:t>사용자의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목적에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따라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AI·지도·시장동향·등록·회원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흐름이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하나의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서비스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안에서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연결</a:t>
            </a:r>
            <a:endParaRPr sz="1200" b="0" dirty="0">
              <a:solidFill>
                <a:srgbClr val="708297"/>
              </a:solidFill>
              <a:latin typeface="Noto Sans K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47472"/>
            <a:ext cx="457200" cy="22860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900" b="1">
                <a:solidFill>
                  <a:srgbClr val="708297"/>
                </a:solidFill>
                <a:latin typeface="Noto Sans KR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18488"/>
            <a:ext cx="548640" cy="41148"/>
          </a:xfrm>
          <a:prstGeom prst="rect">
            <a:avLst/>
          </a:prstGeom>
          <a:solidFill>
            <a:srgbClr val="1FD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17830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271034"/>
            <a:ext cx="32004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 dirty="0">
                <a:solidFill>
                  <a:srgbClr val="1FD4C4"/>
                </a:solidFill>
                <a:latin typeface="Noto Sans K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87168"/>
            <a:ext cx="141732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300" b="1" dirty="0" err="1">
                <a:solidFill>
                  <a:srgbClr val="0F203A"/>
                </a:solidFill>
                <a:latin typeface="Noto Sans KR"/>
              </a:rPr>
              <a:t>메인</a:t>
            </a:r>
            <a:endParaRPr sz="1300" b="1" dirty="0">
              <a:solidFill>
                <a:srgbClr val="0F203A"/>
              </a:solidFill>
              <a:latin typeface="Noto Sans K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741950"/>
            <a:ext cx="141732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 dirty="0" err="1">
                <a:solidFill>
                  <a:srgbClr val="708297"/>
                </a:solidFill>
                <a:latin typeface="Noto Sans KR"/>
              </a:rPr>
              <a:t>탐색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시작</a:t>
            </a:r>
            <a:endParaRPr sz="1200" b="0" dirty="0">
              <a:solidFill>
                <a:srgbClr val="708297"/>
              </a:solidFill>
              <a:latin typeface="Noto Sans KR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2542032" y="2459736"/>
            <a:ext cx="256032" cy="310896"/>
          </a:xfrm>
          <a:prstGeom prst="chevron">
            <a:avLst/>
          </a:prstGeom>
          <a:solidFill>
            <a:srgbClr val="29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880360" y="2148840"/>
            <a:ext cx="17830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17520" y="2271034"/>
            <a:ext cx="32004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1FD4C4"/>
                </a:solidFill>
                <a:latin typeface="Noto Sans K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487168"/>
            <a:ext cx="141732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300" b="1">
                <a:solidFill>
                  <a:srgbClr val="0F203A"/>
                </a:solidFill>
                <a:latin typeface="Noto Sans KR"/>
              </a:rPr>
              <a:t>AI 집 찾기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741950"/>
            <a:ext cx="141732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708297"/>
                </a:solidFill>
                <a:latin typeface="Noto Sans KR"/>
              </a:rPr>
              <a:t>조건 정리</a:t>
            </a:r>
          </a:p>
        </p:txBody>
      </p:sp>
      <p:sp>
        <p:nvSpPr>
          <p:cNvPr id="17" name="Chevron 16"/>
          <p:cNvSpPr/>
          <p:nvPr/>
        </p:nvSpPr>
        <p:spPr>
          <a:xfrm>
            <a:off x="4736592" y="2459736"/>
            <a:ext cx="256032" cy="310896"/>
          </a:xfrm>
          <a:prstGeom prst="chevron">
            <a:avLst/>
          </a:prstGeom>
          <a:solidFill>
            <a:srgbClr val="29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74920" y="2148840"/>
            <a:ext cx="17830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0" y="2271034"/>
            <a:ext cx="32004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1FD4C4"/>
                </a:solidFill>
                <a:latin typeface="Noto Sans K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487168"/>
            <a:ext cx="141732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300" b="1">
                <a:solidFill>
                  <a:srgbClr val="0F203A"/>
                </a:solidFill>
                <a:latin typeface="Noto Sans KR"/>
              </a:rPr>
              <a:t>지도 탐색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741950"/>
            <a:ext cx="141732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708297"/>
                </a:solidFill>
                <a:latin typeface="Noto Sans KR"/>
              </a:rPr>
              <a:t>매물·환경 비교</a:t>
            </a:r>
          </a:p>
        </p:txBody>
      </p:sp>
      <p:sp>
        <p:nvSpPr>
          <p:cNvPr id="22" name="Chevron 21"/>
          <p:cNvSpPr/>
          <p:nvPr/>
        </p:nvSpPr>
        <p:spPr>
          <a:xfrm>
            <a:off x="6931152" y="2459736"/>
            <a:ext cx="256032" cy="310896"/>
          </a:xfrm>
          <a:prstGeom prst="chevron">
            <a:avLst/>
          </a:prstGeom>
          <a:solidFill>
            <a:srgbClr val="29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269480" y="2148840"/>
            <a:ext cx="17830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06640" y="2271034"/>
            <a:ext cx="32004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1FD4C4"/>
                </a:solidFill>
                <a:latin typeface="Noto Sans KR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487168"/>
            <a:ext cx="141732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300" b="1">
                <a:solidFill>
                  <a:srgbClr val="0F203A"/>
                </a:solidFill>
                <a:latin typeface="Noto Sans KR"/>
              </a:rPr>
              <a:t>시장동향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741950"/>
            <a:ext cx="141732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708297"/>
                </a:solidFill>
                <a:latin typeface="Noto Sans KR"/>
              </a:rPr>
              <a:t>데이터 분석</a:t>
            </a:r>
          </a:p>
        </p:txBody>
      </p:sp>
      <p:sp>
        <p:nvSpPr>
          <p:cNvPr id="27" name="Chevron 26"/>
          <p:cNvSpPr/>
          <p:nvPr/>
        </p:nvSpPr>
        <p:spPr>
          <a:xfrm>
            <a:off x="9125712" y="2459736"/>
            <a:ext cx="256032" cy="310896"/>
          </a:xfrm>
          <a:prstGeom prst="chevron">
            <a:avLst/>
          </a:prstGeom>
          <a:solidFill>
            <a:srgbClr val="29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464040" y="2148840"/>
            <a:ext cx="17830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0" y="2271034"/>
            <a:ext cx="32004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1FD4C4"/>
                </a:solidFill>
                <a:latin typeface="Noto Sans KR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487168"/>
            <a:ext cx="141732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300" b="1">
                <a:solidFill>
                  <a:srgbClr val="0F203A"/>
                </a:solidFill>
                <a:latin typeface="Noto Sans KR"/>
              </a:rPr>
              <a:t>관심/등록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741950"/>
            <a:ext cx="141732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708297"/>
                </a:solidFill>
                <a:latin typeface="Noto Sans KR"/>
              </a:rPr>
              <a:t>행동 전환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886200"/>
            <a:ext cx="50749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 sz="1200"/>
          </a:p>
        </p:txBody>
      </p:sp>
      <p:sp>
        <p:nvSpPr>
          <p:cNvPr id="33" name="TextBox 32"/>
          <p:cNvSpPr txBox="1"/>
          <p:nvPr/>
        </p:nvSpPr>
        <p:spPr>
          <a:xfrm>
            <a:off x="868680" y="4113550"/>
            <a:ext cx="105156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 dirty="0">
                <a:solidFill>
                  <a:srgbClr val="1E88F7"/>
                </a:solidFill>
                <a:latin typeface="Noto Sans KR"/>
              </a:rPr>
              <a:t>AI </a:t>
            </a:r>
            <a:r>
              <a:rPr sz="1200" b="1" dirty="0" err="1">
                <a:solidFill>
                  <a:srgbClr val="1E88F7"/>
                </a:solidFill>
                <a:latin typeface="Noto Sans KR"/>
              </a:rPr>
              <a:t>시나리오</a:t>
            </a:r>
            <a:endParaRPr sz="1200" b="1" dirty="0">
              <a:solidFill>
                <a:srgbClr val="1E88F7"/>
              </a:solidFill>
              <a:latin typeface="Noto Sans KR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037878" y="4113550"/>
            <a:ext cx="352044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 dirty="0" err="1">
                <a:solidFill>
                  <a:srgbClr val="0F203A"/>
                </a:solidFill>
                <a:latin typeface="Noto Sans KR"/>
              </a:rPr>
              <a:t>조건</a:t>
            </a:r>
            <a:r>
              <a:rPr sz="12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200" b="1" dirty="0" err="1">
                <a:solidFill>
                  <a:srgbClr val="0F203A"/>
                </a:solidFill>
                <a:latin typeface="Noto Sans KR"/>
              </a:rPr>
              <a:t>입력</a:t>
            </a:r>
            <a:r>
              <a:rPr sz="1200" b="1" dirty="0">
                <a:solidFill>
                  <a:srgbClr val="0F203A"/>
                </a:solidFill>
                <a:latin typeface="Noto Sans KR"/>
              </a:rPr>
              <a:t> → </a:t>
            </a:r>
            <a:r>
              <a:rPr sz="1200" b="1" dirty="0" err="1">
                <a:solidFill>
                  <a:srgbClr val="0F203A"/>
                </a:solidFill>
                <a:latin typeface="Noto Sans KR"/>
              </a:rPr>
              <a:t>추천</a:t>
            </a:r>
            <a:r>
              <a:rPr sz="12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200" b="1" dirty="0" err="1">
                <a:solidFill>
                  <a:srgbClr val="0F203A"/>
                </a:solidFill>
                <a:latin typeface="Noto Sans KR"/>
              </a:rPr>
              <a:t>지역</a:t>
            </a:r>
            <a:r>
              <a:rPr sz="1200" b="1" dirty="0">
                <a:solidFill>
                  <a:srgbClr val="0F203A"/>
                </a:solidFill>
                <a:latin typeface="Noto Sans KR"/>
              </a:rPr>
              <a:t> → </a:t>
            </a:r>
            <a:r>
              <a:rPr sz="1200" b="1" dirty="0" err="1">
                <a:solidFill>
                  <a:srgbClr val="0F203A"/>
                </a:solidFill>
                <a:latin typeface="Noto Sans KR"/>
              </a:rPr>
              <a:t>지도</a:t>
            </a:r>
            <a:r>
              <a:rPr sz="1200" b="1" dirty="0">
                <a:solidFill>
                  <a:srgbClr val="0F203A"/>
                </a:solidFill>
                <a:latin typeface="Noto Sans KR"/>
              </a:rPr>
              <a:t>/</a:t>
            </a:r>
            <a:r>
              <a:rPr sz="1200" b="1" dirty="0" err="1">
                <a:solidFill>
                  <a:srgbClr val="0F203A"/>
                </a:solidFill>
                <a:latin typeface="Noto Sans KR"/>
              </a:rPr>
              <a:t>시장동향</a:t>
            </a:r>
            <a:r>
              <a:rPr sz="12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200" b="1" dirty="0" err="1">
                <a:solidFill>
                  <a:srgbClr val="0F203A"/>
                </a:solidFill>
                <a:latin typeface="Noto Sans KR"/>
              </a:rPr>
              <a:t>확인</a:t>
            </a:r>
            <a:endParaRPr sz="1200" b="1" dirty="0">
              <a:solidFill>
                <a:srgbClr val="0F203A"/>
              </a:solidFill>
              <a:latin typeface="Noto Sans KR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172200" y="3886200"/>
            <a:ext cx="50749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 sz="1200"/>
          </a:p>
        </p:txBody>
      </p:sp>
      <p:sp>
        <p:nvSpPr>
          <p:cNvPr id="36" name="TextBox 35"/>
          <p:cNvSpPr txBox="1"/>
          <p:nvPr/>
        </p:nvSpPr>
        <p:spPr>
          <a:xfrm>
            <a:off x="6355080" y="4113550"/>
            <a:ext cx="105156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1E88F7"/>
                </a:solidFill>
                <a:latin typeface="Noto Sans KR"/>
              </a:rPr>
              <a:t>지도 시나리오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4278" y="4113550"/>
            <a:ext cx="352044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0F203A"/>
                </a:solidFill>
                <a:latin typeface="Noto Sans KR"/>
              </a:rPr>
              <a:t>검색·필터 → 매물/POI/학군 비교 → 관심목록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846320"/>
            <a:ext cx="50749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 sz="1200"/>
          </a:p>
        </p:txBody>
      </p:sp>
      <p:sp>
        <p:nvSpPr>
          <p:cNvPr id="39" name="TextBox 38"/>
          <p:cNvSpPr txBox="1"/>
          <p:nvPr/>
        </p:nvSpPr>
        <p:spPr>
          <a:xfrm>
            <a:off x="868680" y="5073670"/>
            <a:ext cx="105156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 dirty="0" err="1">
                <a:solidFill>
                  <a:srgbClr val="1E88F7"/>
                </a:solidFill>
                <a:latin typeface="Noto Sans KR"/>
              </a:rPr>
              <a:t>분석</a:t>
            </a:r>
            <a:r>
              <a:rPr sz="1200" b="1" dirty="0">
                <a:solidFill>
                  <a:srgbClr val="1E88F7"/>
                </a:solidFill>
                <a:latin typeface="Noto Sans KR"/>
              </a:rPr>
              <a:t> </a:t>
            </a:r>
            <a:r>
              <a:rPr sz="1200" b="1" dirty="0" err="1">
                <a:solidFill>
                  <a:srgbClr val="1E88F7"/>
                </a:solidFill>
                <a:latin typeface="Noto Sans KR"/>
              </a:rPr>
              <a:t>시나리오</a:t>
            </a:r>
            <a:endParaRPr sz="1200" b="1" dirty="0">
              <a:solidFill>
                <a:srgbClr val="1E88F7"/>
              </a:solidFill>
              <a:latin typeface="Noto Sans KR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037878" y="5073670"/>
            <a:ext cx="352044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 dirty="0" err="1">
                <a:solidFill>
                  <a:srgbClr val="0F203A"/>
                </a:solidFill>
                <a:latin typeface="Noto Sans KR"/>
              </a:rPr>
              <a:t>지역</a:t>
            </a:r>
            <a:r>
              <a:rPr sz="12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200" b="1" dirty="0" err="1">
                <a:solidFill>
                  <a:srgbClr val="0F203A"/>
                </a:solidFill>
                <a:latin typeface="Noto Sans KR"/>
              </a:rPr>
              <a:t>선택</a:t>
            </a:r>
            <a:r>
              <a:rPr sz="1200" b="1" dirty="0">
                <a:solidFill>
                  <a:srgbClr val="0F203A"/>
                </a:solidFill>
                <a:latin typeface="Noto Sans KR"/>
              </a:rPr>
              <a:t> → </a:t>
            </a:r>
            <a:r>
              <a:rPr sz="1200" b="1" dirty="0" err="1">
                <a:solidFill>
                  <a:srgbClr val="0F203A"/>
                </a:solidFill>
                <a:latin typeface="Noto Sans KR"/>
              </a:rPr>
              <a:t>매매·전세·거래량·금리</a:t>
            </a:r>
            <a:r>
              <a:rPr sz="1200" b="1" dirty="0">
                <a:solidFill>
                  <a:srgbClr val="0F203A"/>
                </a:solidFill>
                <a:latin typeface="Noto Sans KR"/>
              </a:rPr>
              <a:t> 등 </a:t>
            </a:r>
            <a:r>
              <a:rPr sz="1200" b="1" dirty="0" err="1">
                <a:solidFill>
                  <a:srgbClr val="0F203A"/>
                </a:solidFill>
                <a:latin typeface="Noto Sans KR"/>
              </a:rPr>
              <a:t>비교</a:t>
            </a:r>
            <a:endParaRPr sz="1200" b="1" dirty="0">
              <a:solidFill>
                <a:srgbClr val="0F203A"/>
              </a:solidFill>
              <a:latin typeface="Noto Sans KR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172200" y="4846320"/>
            <a:ext cx="50749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 sz="1200"/>
          </a:p>
        </p:txBody>
      </p:sp>
      <p:sp>
        <p:nvSpPr>
          <p:cNvPr id="42" name="TextBox 41"/>
          <p:cNvSpPr txBox="1"/>
          <p:nvPr/>
        </p:nvSpPr>
        <p:spPr>
          <a:xfrm>
            <a:off x="6355080" y="5073670"/>
            <a:ext cx="105156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1E88F7"/>
                </a:solidFill>
                <a:latin typeface="Noto Sans KR"/>
              </a:rPr>
              <a:t>등록 시나리오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24278" y="5073670"/>
            <a:ext cx="352044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0F203A"/>
                </a:solidFill>
                <a:latin typeface="Noto Sans KR"/>
              </a:rPr>
              <a:t>기본정보 → 상세정보 → 사진 → 확인·등록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528816"/>
            <a:ext cx="7315200" cy="16459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800" b="0">
                <a:solidFill>
                  <a:srgbClr val="708297"/>
                </a:solidFill>
                <a:latin typeface="Noto Sans KR"/>
              </a:rPr>
              <a:t>집찾GO · AI &amp; Data-driven Real Estate Web Service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6528816"/>
            <a:ext cx="1097280" cy="16459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800" b="1">
                <a:solidFill>
                  <a:srgbClr val="708297"/>
                </a:solidFill>
                <a:latin typeface="Noto Sans KR"/>
              </a:rPr>
              <a:t>ZIP-CHATGO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52466"/>
            <a:ext cx="3200400" cy="227755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000" b="1">
                <a:solidFill>
                  <a:srgbClr val="1E88F7"/>
                </a:solidFill>
                <a:latin typeface="Noto Sans KR"/>
              </a:rPr>
              <a:t>CORE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53035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2600" b="1" dirty="0" err="1">
                <a:solidFill>
                  <a:srgbClr val="0F203A"/>
                </a:solidFill>
                <a:latin typeface="Noto Sans KR"/>
              </a:rPr>
              <a:t>핵심</a:t>
            </a:r>
            <a:r>
              <a:rPr sz="26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2600" b="1" dirty="0" err="1">
                <a:solidFill>
                  <a:srgbClr val="0F203A"/>
                </a:solidFill>
                <a:latin typeface="Noto Sans KR"/>
              </a:rPr>
              <a:t>구현</a:t>
            </a:r>
            <a:r>
              <a:rPr sz="26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2600" b="1" dirty="0" err="1">
                <a:solidFill>
                  <a:srgbClr val="0F203A"/>
                </a:solidFill>
                <a:latin typeface="Noto Sans KR"/>
              </a:rPr>
              <a:t>화면</a:t>
            </a:r>
            <a:r>
              <a:rPr sz="2600" b="1" dirty="0">
                <a:solidFill>
                  <a:srgbClr val="0F203A"/>
                </a:solidFill>
                <a:latin typeface="Noto Sans KR"/>
              </a:rPr>
              <a:t> 및 </a:t>
            </a:r>
            <a:r>
              <a:rPr sz="2600" b="1" dirty="0" err="1">
                <a:solidFill>
                  <a:srgbClr val="0F203A"/>
                </a:solidFill>
                <a:latin typeface="Noto Sans KR"/>
              </a:rPr>
              <a:t>주요</a:t>
            </a:r>
            <a:r>
              <a:rPr sz="26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2600" b="1" dirty="0" err="1">
                <a:solidFill>
                  <a:srgbClr val="0F203A"/>
                </a:solidFill>
                <a:latin typeface="Noto Sans KR"/>
              </a:rPr>
              <a:t>기능</a:t>
            </a:r>
            <a:endParaRPr sz="2600" b="1" dirty="0">
              <a:solidFill>
                <a:srgbClr val="0F203A"/>
              </a:solidFill>
              <a:latin typeface="Noto Sans K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251478"/>
            <a:ext cx="1060704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 dirty="0" err="1">
                <a:solidFill>
                  <a:srgbClr val="708297"/>
                </a:solidFill>
                <a:latin typeface="Noto Sans KR"/>
              </a:rPr>
              <a:t>실제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구현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화면을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중심으로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서비스의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핵심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경험을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구성</a:t>
            </a:r>
            <a:endParaRPr sz="1200" b="0" dirty="0">
              <a:solidFill>
                <a:srgbClr val="708297"/>
              </a:solidFill>
              <a:latin typeface="Noto Sans K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47472"/>
            <a:ext cx="457200" cy="22860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900" b="1">
                <a:solidFill>
                  <a:srgbClr val="708297"/>
                </a:solidFill>
                <a:latin typeface="Noto Sans KR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18488"/>
            <a:ext cx="548640" cy="41148"/>
          </a:xfrm>
          <a:prstGeom prst="rect">
            <a:avLst/>
          </a:prstGeom>
          <a:solidFill>
            <a:srgbClr val="1FD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2120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pic>
        <p:nvPicPr>
          <p:cNvPr id="9" name="Picture 8" descr="_crop_14555592703332281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938528"/>
            <a:ext cx="2880360" cy="1645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22191" y="2059049"/>
            <a:ext cx="1691640" cy="28931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400" b="1" dirty="0" err="1">
                <a:solidFill>
                  <a:srgbClr val="0F203A"/>
                </a:solidFill>
                <a:latin typeface="Noto Sans KR"/>
              </a:rPr>
              <a:t>메인</a:t>
            </a:r>
            <a:r>
              <a:rPr sz="1400" b="1" dirty="0">
                <a:solidFill>
                  <a:srgbClr val="0F203A"/>
                </a:solidFill>
                <a:latin typeface="Noto Sans KR"/>
              </a:rPr>
              <a:t> / AI </a:t>
            </a:r>
            <a:r>
              <a:rPr sz="1400" b="1" dirty="0" err="1">
                <a:solidFill>
                  <a:srgbClr val="0F203A"/>
                </a:solidFill>
                <a:latin typeface="Noto Sans KR"/>
              </a:rPr>
              <a:t>진입</a:t>
            </a:r>
            <a:endParaRPr sz="1400" b="1" dirty="0">
              <a:solidFill>
                <a:srgbClr val="0F203A"/>
              </a:solidFill>
              <a:latin typeface="Noto Sans K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22190" y="2608469"/>
            <a:ext cx="1818321" cy="44319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 dirty="0">
                <a:solidFill>
                  <a:srgbClr val="708297"/>
                </a:solidFill>
                <a:latin typeface="Noto Sans KR"/>
              </a:rPr>
              <a:t>AI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질문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시작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·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주요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서비스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진입</a:t>
            </a:r>
            <a:endParaRPr sz="1200" b="0" dirty="0">
              <a:solidFill>
                <a:srgbClr val="708297"/>
              </a:solidFill>
              <a:latin typeface="Noto Sans KR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822191" y="3246120"/>
            <a:ext cx="960120" cy="310896"/>
          </a:xfrm>
          <a:prstGeom prst="roundRect">
            <a:avLst/>
          </a:prstGeom>
          <a:solidFill>
            <a:srgbClr val="EBF6FF"/>
          </a:solidFill>
          <a:ln w="10160">
            <a:solidFill>
              <a:srgbClr val="EB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22191" y="3246120"/>
            <a:ext cx="960120" cy="310896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900" b="1">
                <a:solidFill>
                  <a:srgbClr val="1E88F7"/>
                </a:solidFill>
                <a:latin typeface="Noto Sans KR"/>
              </a:rPr>
              <a:t>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52120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pic>
        <p:nvPicPr>
          <p:cNvPr id="15" name="Picture 14" descr="_crop_40371070951452610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938528"/>
            <a:ext cx="2880360" cy="1645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354312" y="2059049"/>
            <a:ext cx="1691640" cy="28931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400" b="1">
                <a:solidFill>
                  <a:srgbClr val="0F203A"/>
                </a:solidFill>
                <a:latin typeface="Noto Sans KR"/>
              </a:rPr>
              <a:t>매물 추천 / 상세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4312" y="2608469"/>
            <a:ext cx="1691640" cy="44319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708297"/>
                </a:solidFill>
                <a:latin typeface="Noto Sans KR"/>
              </a:rPr>
              <a:t>카드형 정보 · 가격·면적·위치 요약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54312" y="3246120"/>
            <a:ext cx="960120" cy="310896"/>
          </a:xfrm>
          <a:prstGeom prst="roundRect">
            <a:avLst/>
          </a:prstGeom>
          <a:solidFill>
            <a:srgbClr val="EBF6FF"/>
          </a:solidFill>
          <a:ln w="10160">
            <a:solidFill>
              <a:srgbClr val="EB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54312" y="3246120"/>
            <a:ext cx="960120" cy="310896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900" b="1">
                <a:solidFill>
                  <a:srgbClr val="1E88F7"/>
                </a:solidFill>
                <a:latin typeface="Noto Sans KR"/>
              </a:rPr>
              <a:t>PROPERTY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77639"/>
            <a:ext cx="52120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pic>
        <p:nvPicPr>
          <p:cNvPr id="21" name="Picture 20" descr="_crop_99455977941199469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087368"/>
            <a:ext cx="2880360" cy="1645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22191" y="4207889"/>
            <a:ext cx="1691640" cy="28931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400" b="1" dirty="0" err="1">
                <a:solidFill>
                  <a:srgbClr val="0F203A"/>
                </a:solidFill>
                <a:latin typeface="Noto Sans KR"/>
              </a:rPr>
              <a:t>메인</a:t>
            </a:r>
            <a:r>
              <a:rPr sz="14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400" b="1" dirty="0" err="1">
                <a:solidFill>
                  <a:srgbClr val="0F203A"/>
                </a:solidFill>
                <a:latin typeface="Noto Sans KR"/>
              </a:rPr>
              <a:t>반응형</a:t>
            </a:r>
            <a:r>
              <a:rPr sz="1400" b="1" dirty="0">
                <a:solidFill>
                  <a:srgbClr val="0F203A"/>
                </a:solidFill>
                <a:latin typeface="Noto Sans KR"/>
              </a:rPr>
              <a:t>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91" y="4757308"/>
            <a:ext cx="1691640" cy="44319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708297"/>
                </a:solidFill>
                <a:latin typeface="Noto Sans KR"/>
              </a:rPr>
              <a:t>공통 내비게이션 · 카드 중심 구조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22191" y="5394959"/>
            <a:ext cx="960120" cy="310896"/>
          </a:xfrm>
          <a:prstGeom prst="roundRect">
            <a:avLst/>
          </a:prstGeom>
          <a:solidFill>
            <a:srgbClr val="EBF6FF"/>
          </a:solidFill>
          <a:ln w="10160">
            <a:solidFill>
              <a:srgbClr val="EB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22191" y="5394959"/>
            <a:ext cx="960120" cy="310896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900" b="1">
                <a:solidFill>
                  <a:srgbClr val="1E88F7"/>
                </a:solidFill>
                <a:latin typeface="Noto Sans KR"/>
              </a:rPr>
              <a:t>RESPONSIVE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977639"/>
            <a:ext cx="52120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pic>
        <p:nvPicPr>
          <p:cNvPr id="27" name="Picture 26" descr="_crop_76046174209420884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4087368"/>
            <a:ext cx="2880360" cy="16459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354312" y="4207889"/>
            <a:ext cx="1691640" cy="28931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400" b="1" dirty="0" err="1">
                <a:solidFill>
                  <a:srgbClr val="0F203A"/>
                </a:solidFill>
                <a:latin typeface="Noto Sans KR"/>
              </a:rPr>
              <a:t>지도</a:t>
            </a:r>
            <a:r>
              <a:rPr sz="14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400" b="1" dirty="0" err="1">
                <a:solidFill>
                  <a:srgbClr val="0F203A"/>
                </a:solidFill>
                <a:latin typeface="Noto Sans KR"/>
              </a:rPr>
              <a:t>탐색</a:t>
            </a:r>
            <a:endParaRPr sz="1400" b="1" dirty="0">
              <a:solidFill>
                <a:srgbClr val="0F203A"/>
              </a:solidFill>
              <a:latin typeface="Noto Sans KR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354312" y="4757308"/>
            <a:ext cx="1691640" cy="44319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708297"/>
                </a:solidFill>
                <a:latin typeface="Noto Sans KR"/>
              </a:rPr>
              <a:t>4,970건 매물 · 클러스터 · 검색/필터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54312" y="5394959"/>
            <a:ext cx="960120" cy="310896"/>
          </a:xfrm>
          <a:prstGeom prst="roundRect">
            <a:avLst/>
          </a:prstGeom>
          <a:solidFill>
            <a:srgbClr val="EBF6FF"/>
          </a:solidFill>
          <a:ln w="10160">
            <a:solidFill>
              <a:srgbClr val="EB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54312" y="5394959"/>
            <a:ext cx="960120" cy="310896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900" b="1">
                <a:solidFill>
                  <a:srgbClr val="1E88F7"/>
                </a:solidFill>
                <a:latin typeface="Noto Sans KR"/>
              </a:rPr>
              <a:t>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28816"/>
            <a:ext cx="7315200" cy="16459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800" b="0">
                <a:solidFill>
                  <a:srgbClr val="708297"/>
                </a:solidFill>
                <a:latin typeface="Noto Sans KR"/>
              </a:rPr>
              <a:t>집찾GO · AI &amp; Data-driven Real Estate Web 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528816"/>
            <a:ext cx="1097280" cy="16459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800" b="1">
                <a:solidFill>
                  <a:srgbClr val="708297"/>
                </a:solidFill>
                <a:latin typeface="Noto Sans KR"/>
              </a:rPr>
              <a:t>ZIP-CHATGO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52466"/>
            <a:ext cx="3200400" cy="227755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000" b="1">
                <a:solidFill>
                  <a:srgbClr val="1E88F7"/>
                </a:solidFill>
                <a:latin typeface="Noto Sans KR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53035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2600" b="1">
                <a:solidFill>
                  <a:srgbClr val="0F203A"/>
                </a:solidFill>
                <a:latin typeface="Noto Sans KR"/>
              </a:rPr>
              <a:t>프로젝트 시연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51478"/>
            <a:ext cx="1060704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 dirty="0" err="1">
                <a:solidFill>
                  <a:srgbClr val="708297"/>
                </a:solidFill>
                <a:latin typeface="Noto Sans KR"/>
              </a:rPr>
              <a:t>게스트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계정으로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핵심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사용자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여정을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빠르게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확인</a:t>
            </a:r>
            <a:endParaRPr sz="1200" b="0" dirty="0">
              <a:solidFill>
                <a:srgbClr val="708297"/>
              </a:solidFill>
              <a:latin typeface="Noto Sans K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47472"/>
            <a:ext cx="457200" cy="22860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900" b="1">
                <a:solidFill>
                  <a:srgbClr val="708297"/>
                </a:solidFill>
                <a:latin typeface="Noto Sans KR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18488"/>
            <a:ext cx="548640" cy="41148"/>
          </a:xfrm>
          <a:prstGeom prst="rect">
            <a:avLst/>
          </a:prstGeom>
          <a:solidFill>
            <a:srgbClr val="1FD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690372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2057400"/>
            <a:ext cx="6446520" cy="411480"/>
          </a:xfrm>
          <a:prstGeom prst="roundRect">
            <a:avLst/>
          </a:prstGeom>
          <a:solidFill>
            <a:srgbClr val="F9FBFD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24128" y="2176272"/>
            <a:ext cx="82296" cy="82296"/>
          </a:xfrm>
          <a:prstGeom prst="ellipse">
            <a:avLst/>
          </a:prstGeom>
          <a:solidFill>
            <a:srgbClr val="E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25296" y="2176272"/>
            <a:ext cx="82296" cy="82296"/>
          </a:xfrm>
          <a:prstGeom prst="ellipse">
            <a:avLst/>
          </a:prstGeom>
          <a:solidFill>
            <a:srgbClr val="F6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426464" y="2176272"/>
            <a:ext cx="82296" cy="82296"/>
          </a:xfrm>
          <a:prstGeom prst="ellipse">
            <a:avLst/>
          </a:prstGeom>
          <a:solidFill>
            <a:srgbClr val="65E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91640" y="2112264"/>
            <a:ext cx="4846320" cy="2560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900" b="0">
                <a:solidFill>
                  <a:srgbClr val="708297"/>
                </a:solidFill>
                <a:latin typeface="Noto Sans KR"/>
              </a:rPr>
              <a:t>kakaru-rgb.github.io/Zip-chatGo/</a:t>
            </a:r>
          </a:p>
        </p:txBody>
      </p:sp>
      <p:pic>
        <p:nvPicPr>
          <p:cNvPr id="14" name="Picture 13" descr="_crop_42277318827503479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06040"/>
            <a:ext cx="6446520" cy="3154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01000" y="1790527"/>
            <a:ext cx="1810820" cy="350865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b="1" dirty="0">
                <a:solidFill>
                  <a:srgbClr val="1E88F7"/>
                </a:solidFill>
                <a:latin typeface="Noto Sans KR"/>
              </a:rPr>
              <a:t>DEMO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298354"/>
            <a:ext cx="347472" cy="28931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400" b="1" dirty="0">
                <a:solidFill>
                  <a:srgbClr val="1FD4C4"/>
                </a:solidFill>
                <a:latin typeface="Noto Sans KR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306049"/>
            <a:ext cx="2377440" cy="273921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300" b="1" dirty="0" err="1">
                <a:solidFill>
                  <a:srgbClr val="0F203A"/>
                </a:solidFill>
                <a:latin typeface="Noto Sans KR"/>
              </a:rPr>
              <a:t>게스트로</a:t>
            </a:r>
            <a:r>
              <a:rPr sz="13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300" b="1" dirty="0" err="1">
                <a:solidFill>
                  <a:srgbClr val="0F203A"/>
                </a:solidFill>
                <a:latin typeface="Noto Sans KR"/>
              </a:rPr>
              <a:t>체험하기</a:t>
            </a:r>
            <a:endParaRPr sz="1300" b="1" dirty="0">
              <a:solidFill>
                <a:srgbClr val="0F203A"/>
              </a:solidFill>
              <a:latin typeface="Noto Sans K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58200" y="2595645"/>
            <a:ext cx="251460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 dirty="0" err="1">
                <a:solidFill>
                  <a:srgbClr val="708297"/>
                </a:solidFill>
                <a:latin typeface="Noto Sans KR"/>
              </a:rPr>
              <a:t>로그인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없이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주요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기능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진입</a:t>
            </a:r>
            <a:endParaRPr sz="1200" b="0" dirty="0">
              <a:solidFill>
                <a:srgbClr val="708297"/>
              </a:solidFill>
              <a:latin typeface="Noto Sans K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1000" y="3121314"/>
            <a:ext cx="347472" cy="28931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400" b="1" dirty="0">
                <a:solidFill>
                  <a:srgbClr val="1FD4C4"/>
                </a:solidFill>
                <a:latin typeface="Noto Sans KR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129009"/>
            <a:ext cx="2377440" cy="273921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300" b="1" dirty="0" err="1">
                <a:solidFill>
                  <a:srgbClr val="0F203A"/>
                </a:solidFill>
                <a:latin typeface="Noto Sans KR"/>
              </a:rPr>
              <a:t>페이지</a:t>
            </a:r>
            <a:r>
              <a:rPr sz="13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300" b="1" dirty="0" err="1">
                <a:solidFill>
                  <a:srgbClr val="0F203A"/>
                </a:solidFill>
                <a:latin typeface="Noto Sans KR"/>
              </a:rPr>
              <a:t>이동</a:t>
            </a:r>
            <a:endParaRPr sz="1300" b="1" dirty="0">
              <a:solidFill>
                <a:srgbClr val="0F203A"/>
              </a:solidFill>
              <a:latin typeface="Noto Sans K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58200" y="3418606"/>
            <a:ext cx="251460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708297"/>
                </a:solidFill>
                <a:latin typeface="Noto Sans KR"/>
              </a:rPr>
              <a:t>AI → 지도 → 시장동향 → 관심목록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3944273"/>
            <a:ext cx="347472" cy="28931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400" b="1" dirty="0">
                <a:solidFill>
                  <a:srgbClr val="1FD4C4"/>
                </a:solidFill>
                <a:latin typeface="Noto Sans KR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951968"/>
            <a:ext cx="2377440" cy="273921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300" b="1">
                <a:solidFill>
                  <a:srgbClr val="0F203A"/>
                </a:solidFill>
                <a:latin typeface="Noto Sans KR"/>
              </a:rPr>
              <a:t>지도 인터랙션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241565"/>
            <a:ext cx="251460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708297"/>
                </a:solidFill>
                <a:latin typeface="Noto Sans KR"/>
              </a:rPr>
              <a:t>검색·필터·클러스터·POI·학군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4767234"/>
            <a:ext cx="347472" cy="28931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400" b="1" dirty="0">
                <a:solidFill>
                  <a:srgbClr val="1FD4C4"/>
                </a:solidFill>
                <a:latin typeface="Noto Sans KR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4774929"/>
            <a:ext cx="2377440" cy="273921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300" b="1">
                <a:solidFill>
                  <a:srgbClr val="0F203A"/>
                </a:solidFill>
                <a:latin typeface="Noto Sans KR"/>
              </a:rPr>
              <a:t>반응형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5064526"/>
            <a:ext cx="251460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708297"/>
                </a:solidFill>
                <a:latin typeface="Noto Sans KR"/>
              </a:rPr>
              <a:t>화면 크기에 따른 메뉴·레이아웃 변화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5715000"/>
            <a:ext cx="1097280" cy="310896"/>
          </a:xfrm>
          <a:prstGeom prst="roundRect">
            <a:avLst/>
          </a:prstGeom>
          <a:solidFill>
            <a:srgbClr val="E9FCF8"/>
          </a:solidFill>
          <a:ln w="10160">
            <a:solidFill>
              <a:srgbClr val="E9F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01000" y="5741182"/>
            <a:ext cx="109728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200" b="1">
                <a:solidFill>
                  <a:srgbClr val="1FD4C4"/>
                </a:solidFill>
                <a:latin typeface="Noto Sans KR"/>
              </a:rPr>
              <a:t>DEPLOYED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5741182"/>
            <a:ext cx="137160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0F203A"/>
                </a:solidFill>
                <a:latin typeface="Noto Sans KR"/>
              </a:rPr>
              <a:t>GitHub Pages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28816"/>
            <a:ext cx="7315200" cy="16459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800" b="0">
                <a:solidFill>
                  <a:srgbClr val="708297"/>
                </a:solidFill>
                <a:latin typeface="Noto Sans KR"/>
              </a:rPr>
              <a:t>집찾GO · AI &amp; Data-driven Real Estate Web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28816"/>
            <a:ext cx="1097280" cy="16459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800" b="1">
                <a:solidFill>
                  <a:srgbClr val="708297"/>
                </a:solidFill>
                <a:latin typeface="Noto Sans KR"/>
              </a:rPr>
              <a:t>ZIP-CHATGO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52466"/>
            <a:ext cx="3200400" cy="227755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000" b="1" dirty="0">
                <a:solidFill>
                  <a:srgbClr val="1E88F7"/>
                </a:solidFill>
                <a:latin typeface="Noto Sans KR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53035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2600" b="1" dirty="0" err="1">
                <a:solidFill>
                  <a:srgbClr val="0F203A"/>
                </a:solidFill>
                <a:latin typeface="Noto Sans KR"/>
              </a:rPr>
              <a:t>향후</a:t>
            </a:r>
            <a:r>
              <a:rPr sz="26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2600" b="1" dirty="0" err="1">
                <a:solidFill>
                  <a:srgbClr val="0F203A"/>
                </a:solidFill>
                <a:latin typeface="Noto Sans KR"/>
              </a:rPr>
              <a:t>개발</a:t>
            </a:r>
            <a:r>
              <a:rPr sz="26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2600" b="1" dirty="0" err="1">
                <a:solidFill>
                  <a:srgbClr val="0F203A"/>
                </a:solidFill>
                <a:latin typeface="Noto Sans KR"/>
              </a:rPr>
              <a:t>계획</a:t>
            </a:r>
            <a:endParaRPr sz="2600" b="1" dirty="0">
              <a:solidFill>
                <a:srgbClr val="0F203A"/>
              </a:solidFill>
              <a:latin typeface="Noto Sans K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251478"/>
            <a:ext cx="1060704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 dirty="0" err="1">
                <a:solidFill>
                  <a:srgbClr val="708297"/>
                </a:solidFill>
                <a:latin typeface="Noto Sans KR"/>
              </a:rPr>
              <a:t>데모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프론트엔드에서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실제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운영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가능한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AI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부동산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플랫폼으로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단계적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확장</a:t>
            </a:r>
            <a:endParaRPr sz="1200" b="0" dirty="0">
              <a:solidFill>
                <a:srgbClr val="708297"/>
              </a:solidFill>
              <a:latin typeface="Noto Sans K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47472"/>
            <a:ext cx="457200" cy="22860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900" b="1">
                <a:solidFill>
                  <a:srgbClr val="708297"/>
                </a:solidFill>
                <a:latin typeface="Noto Sans KR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18488"/>
            <a:ext cx="548640" cy="41148"/>
          </a:xfrm>
          <a:prstGeom prst="rect">
            <a:avLst/>
          </a:prstGeom>
          <a:solidFill>
            <a:srgbClr val="1FD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338328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12848"/>
            <a:ext cx="36576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300" b="1">
                <a:solidFill>
                  <a:srgbClr val="1E88F7"/>
                </a:solidFill>
                <a:latin typeface="Noto Sans KR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2176272"/>
            <a:ext cx="1143000" cy="310896"/>
          </a:xfrm>
          <a:prstGeom prst="roundRect">
            <a:avLst/>
          </a:prstGeom>
          <a:solidFill>
            <a:srgbClr val="EBF6FF"/>
          </a:solidFill>
          <a:ln w="10160">
            <a:solidFill>
              <a:srgbClr val="EB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5880" y="2202454"/>
            <a:ext cx="114300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200" b="1" dirty="0">
                <a:solidFill>
                  <a:srgbClr val="1E88F7"/>
                </a:solidFill>
                <a:latin typeface="Noto Sans KR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56387"/>
            <a:ext cx="2788920" cy="350865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800" b="1" dirty="0">
                <a:solidFill>
                  <a:srgbClr val="0F203A"/>
                </a:solidFill>
                <a:latin typeface="Noto Sans KR"/>
              </a:rPr>
              <a:t>Spring</a:t>
            </a:r>
            <a:r>
              <a:rPr lang="en-US" sz="18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lang="en-US" b="1" dirty="0">
                <a:solidFill>
                  <a:srgbClr val="0F203A"/>
                </a:solidFill>
                <a:latin typeface="Noto Sans KR"/>
              </a:rPr>
              <a:t>Boot</a:t>
            </a:r>
            <a:r>
              <a:rPr sz="1800" b="1" dirty="0">
                <a:solidFill>
                  <a:srgbClr val="0F203A"/>
                </a:solidFill>
                <a:latin typeface="Noto Sans KR"/>
              </a:rPr>
              <a:t>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16954"/>
            <a:ext cx="278892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708297"/>
                </a:solidFill>
                <a:latin typeface="Noto Sans KR"/>
              </a:rPr>
              <a:t>회원 관리 · 로그인 · 게시판 · 영구 저장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983480"/>
            <a:ext cx="2697480" cy="50292"/>
          </a:xfrm>
          <a:prstGeom prst="rect">
            <a:avLst/>
          </a:prstGeom>
          <a:solidFill>
            <a:srgbClr val="1E8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43400" y="1965960"/>
            <a:ext cx="338328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212848"/>
            <a:ext cx="36576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300" b="1">
                <a:solidFill>
                  <a:srgbClr val="1FD4C4"/>
                </a:solidFill>
                <a:latin typeface="Noto Sans KR"/>
              </a:rP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176272"/>
            <a:ext cx="1143000" cy="310896"/>
          </a:xfrm>
          <a:prstGeom prst="roundRect">
            <a:avLst/>
          </a:prstGeom>
          <a:solidFill>
            <a:srgbClr val="E9FCF8"/>
          </a:solidFill>
          <a:ln w="10160">
            <a:solidFill>
              <a:srgbClr val="E9F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2202454"/>
            <a:ext cx="114300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200" b="1">
                <a:solidFill>
                  <a:srgbClr val="1FD4C4"/>
                </a:solidFill>
                <a:latin typeface="Noto Sans KR"/>
              </a:rPr>
              <a:t>RPA /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880360"/>
            <a:ext cx="2788920" cy="5029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800" b="1">
                <a:solidFill>
                  <a:srgbClr val="0F203A"/>
                </a:solidFill>
                <a:latin typeface="Noto Sans KR"/>
              </a:rPr>
              <a:t>자동 수집 파이프라인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824621"/>
            <a:ext cx="2788920" cy="44319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708297"/>
                </a:solidFill>
                <a:latin typeface="Noto Sans KR"/>
              </a:rPr>
              <a:t>부동산·공공데이터 · 시세 갱신 · 전처리 자동화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4983480"/>
            <a:ext cx="2697480" cy="50292"/>
          </a:xfrm>
          <a:prstGeom prst="rect">
            <a:avLst/>
          </a:prstGeom>
          <a:solidFill>
            <a:srgbClr val="1FD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46719" y="1965960"/>
            <a:ext cx="338328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19" y="2212848"/>
            <a:ext cx="36576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300" b="1">
                <a:solidFill>
                  <a:srgbClr val="29CCE6"/>
                </a:solidFill>
                <a:latin typeface="Noto Sans KR"/>
              </a:rPr>
              <a:t>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19" y="2176272"/>
            <a:ext cx="1143000" cy="310896"/>
          </a:xfrm>
          <a:prstGeom prst="roundRect">
            <a:avLst/>
          </a:prstGeom>
          <a:solidFill>
            <a:srgbClr val="E9FCF8"/>
          </a:solidFill>
          <a:ln w="10160">
            <a:solidFill>
              <a:srgbClr val="E9F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32519" y="2202454"/>
            <a:ext cx="114300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200" b="1">
                <a:solidFill>
                  <a:srgbClr val="29CCE6"/>
                </a:solidFill>
                <a:latin typeface="Noto Sans KR"/>
              </a:rPr>
              <a:t>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2880360"/>
            <a:ext cx="2788920" cy="5029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800" b="1">
                <a:solidFill>
                  <a:srgbClr val="0F203A"/>
                </a:solidFill>
                <a:latin typeface="Noto Sans KR"/>
              </a:rPr>
              <a:t>AI 중개사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3824621"/>
            <a:ext cx="2788920" cy="44319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708297"/>
                </a:solidFill>
                <a:latin typeface="Noto Sans KR"/>
              </a:rPr>
              <a:t>자연어 검색 · 질의응답 · 조건 해석 · 맞춤 매물 추천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19" y="4983480"/>
            <a:ext cx="2697480" cy="50292"/>
          </a:xfrm>
          <a:prstGeom prst="rect">
            <a:avLst/>
          </a:prstGeom>
          <a:solidFill>
            <a:srgbClr val="29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5943600"/>
            <a:ext cx="548640" cy="22860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900" b="1">
                <a:solidFill>
                  <a:srgbClr val="1E88F7"/>
                </a:solidFill>
                <a:latin typeface="Noto Sans KR"/>
              </a:rPr>
              <a:t>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907024"/>
            <a:ext cx="6583680" cy="29260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0F203A"/>
                </a:solidFill>
                <a:latin typeface="Noto Sans KR"/>
              </a:rPr>
              <a:t>Spring/MySQL → 데이터 자동화 → 자연어 기반 AI 중개사 → 개인화 추천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28816"/>
            <a:ext cx="7315200" cy="16459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800" b="0">
                <a:solidFill>
                  <a:srgbClr val="708297"/>
                </a:solidFill>
                <a:latin typeface="Noto Sans KR"/>
              </a:rPr>
              <a:t>집찾GO · AI &amp; Data-driven Real Estate Web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28816"/>
            <a:ext cx="1097280" cy="16459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800" b="1">
                <a:solidFill>
                  <a:srgbClr val="708297"/>
                </a:solidFill>
                <a:latin typeface="Noto Sans KR"/>
              </a:rPr>
              <a:t>ZIP-CHATGO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758688"/>
            <a:ext cx="10881360" cy="658368"/>
          </a:xfrm>
          <a:prstGeom prst="roundRect">
            <a:avLst/>
          </a:prstGeom>
          <a:solidFill>
            <a:srgbClr val="E8F9FA"/>
          </a:solidFill>
          <a:ln>
            <a:solidFill>
              <a:srgbClr val="1F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112" y="5941678"/>
            <a:ext cx="1037844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dirty="0" err="1">
                <a:solidFill>
                  <a:srgbClr val="0F203A"/>
                </a:solidFill>
                <a:latin typeface="Noto Sans KR"/>
              </a:rPr>
              <a:t>최종</a:t>
            </a:r>
            <a:r>
              <a:rPr sz="13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300" b="1" dirty="0" err="1">
                <a:solidFill>
                  <a:srgbClr val="0F203A"/>
                </a:solidFill>
                <a:latin typeface="Noto Sans KR"/>
              </a:rPr>
              <a:t>목표</a:t>
            </a:r>
            <a:r>
              <a:rPr sz="1300" b="1" dirty="0">
                <a:solidFill>
                  <a:srgbClr val="0F203A"/>
                </a:solidFill>
                <a:latin typeface="Noto Sans KR"/>
              </a:rPr>
              <a:t>  |  </a:t>
            </a:r>
            <a:r>
              <a:rPr sz="1300" b="1" dirty="0" err="1">
                <a:solidFill>
                  <a:srgbClr val="0F203A"/>
                </a:solidFill>
                <a:latin typeface="Noto Sans KR"/>
              </a:rPr>
              <a:t>사용자가</a:t>
            </a:r>
            <a:r>
              <a:rPr sz="13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300" b="1" dirty="0" err="1">
                <a:solidFill>
                  <a:srgbClr val="0F203A"/>
                </a:solidFill>
                <a:latin typeface="Noto Sans KR"/>
              </a:rPr>
              <a:t>일상적인</a:t>
            </a:r>
            <a:r>
              <a:rPr sz="13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300" b="1" dirty="0" err="1">
                <a:solidFill>
                  <a:srgbClr val="0F203A"/>
                </a:solidFill>
                <a:latin typeface="Noto Sans KR"/>
              </a:rPr>
              <a:t>자연어로</a:t>
            </a:r>
            <a:r>
              <a:rPr sz="13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300" b="1" dirty="0" err="1">
                <a:solidFill>
                  <a:srgbClr val="0F203A"/>
                </a:solidFill>
                <a:latin typeface="Noto Sans KR"/>
              </a:rPr>
              <a:t>조건을</a:t>
            </a:r>
            <a:r>
              <a:rPr sz="13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300" b="1" dirty="0" err="1">
                <a:solidFill>
                  <a:srgbClr val="0F203A"/>
                </a:solidFill>
                <a:latin typeface="Noto Sans KR"/>
              </a:rPr>
              <a:t>말하면</a:t>
            </a:r>
            <a:r>
              <a:rPr sz="1300" b="1" dirty="0">
                <a:solidFill>
                  <a:srgbClr val="0F203A"/>
                </a:solidFill>
                <a:latin typeface="Noto Sans KR"/>
              </a:rPr>
              <a:t>, </a:t>
            </a:r>
            <a:r>
              <a:rPr sz="1300" b="1" dirty="0" err="1">
                <a:solidFill>
                  <a:srgbClr val="0F203A"/>
                </a:solidFill>
                <a:latin typeface="Noto Sans KR"/>
              </a:rPr>
              <a:t>매물·지역·시장</a:t>
            </a:r>
            <a:r>
              <a:rPr sz="13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300" b="1" dirty="0" err="1">
                <a:solidFill>
                  <a:srgbClr val="0F203A"/>
                </a:solidFill>
                <a:latin typeface="Noto Sans KR"/>
              </a:rPr>
              <a:t>데이터를</a:t>
            </a:r>
            <a:r>
              <a:rPr sz="13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300" b="1" dirty="0" err="1">
                <a:solidFill>
                  <a:srgbClr val="0F203A"/>
                </a:solidFill>
                <a:latin typeface="Noto Sans KR"/>
              </a:rPr>
              <a:t>찾아</a:t>
            </a:r>
            <a:r>
              <a:rPr sz="13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300" b="1" dirty="0" err="1">
                <a:solidFill>
                  <a:srgbClr val="0F203A"/>
                </a:solidFill>
                <a:latin typeface="Noto Sans KR"/>
              </a:rPr>
              <a:t>비교하고</a:t>
            </a:r>
            <a:r>
              <a:rPr sz="13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300" b="1" dirty="0" err="1">
                <a:solidFill>
                  <a:srgbClr val="0F203A"/>
                </a:solidFill>
                <a:latin typeface="Noto Sans KR"/>
              </a:rPr>
              <a:t>이유까지</a:t>
            </a:r>
            <a:r>
              <a:rPr sz="13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1300" b="1" dirty="0" err="1">
                <a:solidFill>
                  <a:srgbClr val="0F203A"/>
                </a:solidFill>
                <a:latin typeface="Noto Sans KR"/>
              </a:rPr>
              <a:t>설명하는</a:t>
            </a:r>
            <a:r>
              <a:rPr sz="1300" b="1" dirty="0">
                <a:solidFill>
                  <a:srgbClr val="0F203A"/>
                </a:solidFill>
                <a:latin typeface="Noto Sans KR"/>
              </a:rPr>
              <a:t> ‘AI </a:t>
            </a:r>
            <a:r>
              <a:rPr sz="1300" b="1" dirty="0" err="1">
                <a:solidFill>
                  <a:srgbClr val="0F203A"/>
                </a:solidFill>
                <a:latin typeface="Noto Sans KR"/>
              </a:rPr>
              <a:t>중개사</a:t>
            </a:r>
            <a:r>
              <a:rPr sz="1300" b="1" dirty="0">
                <a:solidFill>
                  <a:srgbClr val="0F203A"/>
                </a:solidFill>
                <a:latin typeface="Noto Sans KR"/>
              </a:rPr>
              <a:t>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52466"/>
            <a:ext cx="3200400" cy="227755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000" b="1">
                <a:solidFill>
                  <a:srgbClr val="1E88F7"/>
                </a:solidFill>
                <a:latin typeface="Noto Sans KR"/>
              </a:rPr>
              <a:t>RETROSPECTIVE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53035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2600" b="1" dirty="0" err="1">
                <a:solidFill>
                  <a:srgbClr val="0F203A"/>
                </a:solidFill>
                <a:latin typeface="Noto Sans KR"/>
              </a:rPr>
              <a:t>프로젝트</a:t>
            </a:r>
            <a:r>
              <a:rPr sz="2600" b="1" dirty="0">
                <a:solidFill>
                  <a:srgbClr val="0F203A"/>
                </a:solidFill>
                <a:latin typeface="Noto Sans KR"/>
              </a:rPr>
              <a:t> </a:t>
            </a:r>
            <a:r>
              <a:rPr sz="2600" b="1" dirty="0" err="1">
                <a:solidFill>
                  <a:srgbClr val="0F203A"/>
                </a:solidFill>
                <a:latin typeface="Noto Sans KR"/>
              </a:rPr>
              <a:t>회고</a:t>
            </a:r>
            <a:r>
              <a:rPr sz="2600" b="1" dirty="0">
                <a:solidFill>
                  <a:srgbClr val="0F203A"/>
                </a:solidFill>
                <a:latin typeface="Noto Sans KR"/>
              </a:rPr>
              <a:t> &amp;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51478"/>
            <a:ext cx="1060704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 dirty="0">
                <a:solidFill>
                  <a:srgbClr val="708297"/>
                </a:solidFill>
                <a:latin typeface="Noto Sans KR"/>
              </a:rPr>
              <a:t>Keep · Problem ·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Try로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다음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버전의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방향을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정리했습니다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47472"/>
            <a:ext cx="457200" cy="22860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900" b="1">
                <a:solidFill>
                  <a:srgbClr val="708297"/>
                </a:solidFill>
                <a:latin typeface="Noto Sans KR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18488"/>
            <a:ext cx="548640" cy="41148"/>
          </a:xfrm>
          <a:prstGeom prst="rect">
            <a:avLst/>
          </a:prstGeom>
          <a:solidFill>
            <a:srgbClr val="1FD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3383280" cy="3246120"/>
          </a:xfrm>
          <a:prstGeom prst="roundRect">
            <a:avLst/>
          </a:prstGeom>
          <a:solidFill>
            <a:srgbClr val="F6FAFD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2212848"/>
            <a:ext cx="914400" cy="310896"/>
          </a:xfrm>
          <a:prstGeom prst="roundRect">
            <a:avLst/>
          </a:prstGeom>
          <a:solidFill>
            <a:srgbClr val="E9FCF8"/>
          </a:solidFill>
          <a:ln w="10160">
            <a:solidFill>
              <a:srgbClr val="E9F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239030"/>
            <a:ext cx="91440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200" b="1" dirty="0">
                <a:solidFill>
                  <a:srgbClr val="1FD4C4"/>
                </a:solidFill>
                <a:latin typeface="Noto Sans KR"/>
              </a:rPr>
              <a:t>KEEP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2286000" cy="3200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700" b="1">
                <a:solidFill>
                  <a:srgbClr val="0F203A"/>
                </a:solidFill>
                <a:latin typeface="Noto Sans KR"/>
              </a:rPr>
              <a:t>잘된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04581"/>
            <a:ext cx="2788920" cy="44319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 dirty="0" err="1">
                <a:solidFill>
                  <a:srgbClr val="708297"/>
                </a:solidFill>
                <a:latin typeface="Noto Sans KR"/>
              </a:rPr>
              <a:t>지도·시장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데이터·회원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/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지원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화면을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
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하나의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서비스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흐름으로</a:t>
            </a:r>
            <a:r>
              <a:rPr sz="12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200" b="0" dirty="0" err="1">
                <a:solidFill>
                  <a:srgbClr val="708297"/>
                </a:solidFill>
                <a:latin typeface="Noto Sans KR"/>
              </a:rPr>
              <a:t>연결</a:t>
            </a:r>
            <a:endParaRPr sz="1200" b="0" dirty="0">
              <a:solidFill>
                <a:srgbClr val="708297"/>
              </a:solidFill>
              <a:latin typeface="Noto Sans K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4648474"/>
            <a:ext cx="278892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1FD4C4"/>
                </a:solidFill>
                <a:latin typeface="Noto Sans KR"/>
              </a:rPr>
              <a:t>사용자 여정 중심 설계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965960"/>
            <a:ext cx="3383280" cy="3246120"/>
          </a:xfrm>
          <a:prstGeom prst="roundRect">
            <a:avLst/>
          </a:prstGeom>
          <a:solidFill>
            <a:srgbClr val="F6FAFD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0" y="2212848"/>
            <a:ext cx="914400" cy="310896"/>
          </a:xfrm>
          <a:prstGeom prst="roundRect">
            <a:avLst/>
          </a:prstGeom>
          <a:solidFill>
            <a:srgbClr val="EBF6FF"/>
          </a:solidFill>
          <a:ln w="10160">
            <a:solidFill>
              <a:srgbClr val="EB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239030"/>
            <a:ext cx="91440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200" b="1">
                <a:solidFill>
                  <a:srgbClr val="1E88F7"/>
                </a:solidFill>
                <a:latin typeface="Noto Sans KR"/>
              </a:rPr>
              <a:t>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88920"/>
            <a:ext cx="2286000" cy="3200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700" b="1">
                <a:solidFill>
                  <a:srgbClr val="0F203A"/>
                </a:solidFill>
                <a:latin typeface="Noto Sans KR"/>
              </a:rPr>
              <a:t>아쉬운 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504581"/>
            <a:ext cx="2788920" cy="44319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708297"/>
                </a:solidFill>
                <a:latin typeface="Noto Sans KR"/>
              </a:rPr>
              <a:t>실제 생성형 AI·회원/매물 DB 미연결
일부 공통 UI·성능·접근성 보완 필요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648474"/>
            <a:ext cx="278892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1E88F7"/>
                </a:solidFill>
                <a:latin typeface="Noto Sans KR"/>
              </a:rPr>
              <a:t>데모와 운영 서비스의 간극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965960"/>
            <a:ext cx="3383280" cy="3246120"/>
          </a:xfrm>
          <a:prstGeom prst="roundRect">
            <a:avLst/>
          </a:prstGeom>
          <a:solidFill>
            <a:srgbClr val="F6FAFD"/>
          </a:solidFill>
          <a:ln w="10160">
            <a:solidFill>
              <a:srgbClr val="DE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75319" y="2212848"/>
            <a:ext cx="914400" cy="310896"/>
          </a:xfrm>
          <a:prstGeom prst="roundRect">
            <a:avLst/>
          </a:prstGeom>
          <a:solidFill>
            <a:srgbClr val="EBF6FF"/>
          </a:solidFill>
          <a:ln w="10160">
            <a:solidFill>
              <a:srgbClr val="EB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5319" y="2239030"/>
            <a:ext cx="91440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200" b="1">
                <a:solidFill>
                  <a:srgbClr val="29CCE6"/>
                </a:solidFill>
                <a:latin typeface="Noto Sans KR"/>
              </a:rPr>
              <a:t>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788920"/>
            <a:ext cx="2286000" cy="3200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700" b="1">
                <a:solidFill>
                  <a:srgbClr val="0F203A"/>
                </a:solidFill>
                <a:latin typeface="Noto Sans KR"/>
              </a:rPr>
              <a:t>개선 방향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3504581"/>
            <a:ext cx="2788920" cy="44319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708297"/>
                </a:solidFill>
                <a:latin typeface="Noto Sans KR"/>
              </a:rPr>
              <a:t>Spring/MySQL 기반 백엔드
RPA 수집 + AI 추천/예측 + 자동화 테스트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4648474"/>
            <a:ext cx="2788920" cy="2585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29CCE6"/>
                </a:solidFill>
                <a:latin typeface="Noto Sans KR"/>
              </a:rPr>
              <a:t>실서비스 수준으로 확장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15000"/>
            <a:ext cx="1828800" cy="5029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2800" b="1" dirty="0">
                <a:solidFill>
                  <a:srgbClr val="0F203A"/>
                </a:solidFill>
                <a:latin typeface="Noto Sans KR"/>
              </a:rPr>
              <a:t>Q&amp;A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5806440"/>
            <a:ext cx="6858000" cy="3200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300" b="0" dirty="0" err="1">
                <a:solidFill>
                  <a:srgbClr val="708297"/>
                </a:solidFill>
                <a:latin typeface="Noto Sans KR"/>
              </a:rPr>
              <a:t>집을</a:t>
            </a:r>
            <a:r>
              <a:rPr sz="13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300" b="0" dirty="0" err="1">
                <a:solidFill>
                  <a:srgbClr val="708297"/>
                </a:solidFill>
                <a:latin typeface="Noto Sans KR"/>
              </a:rPr>
              <a:t>찾는</a:t>
            </a:r>
            <a:r>
              <a:rPr sz="13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300" b="0" dirty="0" err="1">
                <a:solidFill>
                  <a:srgbClr val="708297"/>
                </a:solidFill>
                <a:latin typeface="Noto Sans KR"/>
              </a:rPr>
              <a:t>복잡한</a:t>
            </a:r>
            <a:r>
              <a:rPr sz="13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300" b="0" dirty="0" err="1">
                <a:solidFill>
                  <a:srgbClr val="708297"/>
                </a:solidFill>
                <a:latin typeface="Noto Sans KR"/>
              </a:rPr>
              <a:t>과정을</a:t>
            </a:r>
            <a:r>
              <a:rPr sz="1300" b="0" dirty="0">
                <a:solidFill>
                  <a:srgbClr val="708297"/>
                </a:solidFill>
                <a:latin typeface="Noto Sans KR"/>
              </a:rPr>
              <a:t>, 더 </a:t>
            </a:r>
            <a:r>
              <a:rPr sz="1300" b="0" dirty="0" err="1">
                <a:solidFill>
                  <a:srgbClr val="708297"/>
                </a:solidFill>
                <a:latin typeface="Noto Sans KR"/>
              </a:rPr>
              <a:t>이해하기</a:t>
            </a:r>
            <a:r>
              <a:rPr sz="13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300" b="0" dirty="0" err="1">
                <a:solidFill>
                  <a:srgbClr val="708297"/>
                </a:solidFill>
                <a:latin typeface="Noto Sans KR"/>
              </a:rPr>
              <a:t>쉬운</a:t>
            </a:r>
            <a:r>
              <a:rPr sz="1300" b="0" dirty="0">
                <a:solidFill>
                  <a:srgbClr val="708297"/>
                </a:solidFill>
                <a:latin typeface="Noto Sans KR"/>
              </a:rPr>
              <a:t> </a:t>
            </a:r>
            <a:r>
              <a:rPr sz="1300" b="0" dirty="0" err="1">
                <a:solidFill>
                  <a:srgbClr val="708297"/>
                </a:solidFill>
                <a:latin typeface="Noto Sans KR"/>
              </a:rPr>
              <a:t>경험으로</a:t>
            </a:r>
            <a:r>
              <a:rPr sz="1300" b="0" dirty="0">
                <a:solidFill>
                  <a:srgbClr val="708297"/>
                </a:solidFill>
                <a:latin typeface="Noto Sans KR"/>
              </a:rPr>
              <a:t>.</a:t>
            </a:r>
          </a:p>
        </p:txBody>
      </p:sp>
      <p:pic>
        <p:nvPicPr>
          <p:cNvPr id="28" name="Picture 27" descr="logo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5532120"/>
            <a:ext cx="1737360" cy="868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801</ep:Words>
  <ep:PresentationFormat>와이드스크린</ep:PresentationFormat>
  <ep:Paragraphs>228</ep:Paragraphs>
  <ep:Slides>10</ep:Slides>
  <ep:Notes>10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ep:HeadingPairs>
  <ep:TitlesOfParts>
    <vt:vector size="11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creator>pc06-00</dc:creator>
  <dc:description>generated using python-pptx</dc:description>
  <cp:lastModifiedBy>pc06-00</cp:lastModifiedBy>
  <dcterms:modified xsi:type="dcterms:W3CDTF">2026-08-07T08:16:11.231</dcterms:modified>
  <cp:revision>5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